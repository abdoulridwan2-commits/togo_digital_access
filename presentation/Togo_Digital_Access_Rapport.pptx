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13A"/>
        </a:solidFill>
      </p:bgPr>
    </p:bg>
    <p:spTree>
      <p:nvGrpSpPr>
        <p:cNvPr id="1" name=""/>
        <p:cNvGrpSpPr/>
        <p:nvPr/>
      </p:nvGrpSpPr>
      <p:grpSpPr>
        <a:xfrm>
          <a:off x="0" y="0"/>
          <a:ext cx="0" cy="0"/>
          <a:chOff x="0" y="0"/>
          <a:chExt cx="0" cy="0"/>
        </a:xfrm>
      </p:grpSpPr>
      <p:sp>
        <p:nvSpPr>
          <p:cNvPr id="2" name="Shape 0"/>
          <p:cNvSpPr/>
          <p:nvPr/>
        </p:nvSpPr>
        <p:spPr>
          <a:xfrm>
            <a:off x="9875520" y="-1371600"/>
            <a:ext cx="4572000" cy="4572000"/>
          </a:xfrm>
          <a:prstGeom prst="ellipse">
            <a:avLst/>
          </a:prstGeom>
          <a:solidFill>
            <a:srgbClr val="1C7293">
              <a:alpha val="25000"/>
            </a:srgbClr>
          </a:solidFill>
          <a:ln/>
        </p:spPr>
      </p:sp>
      <p:sp>
        <p:nvSpPr>
          <p:cNvPr id="3" name="Shape 1"/>
          <p:cNvSpPr/>
          <p:nvPr/>
        </p:nvSpPr>
        <p:spPr>
          <a:xfrm>
            <a:off x="10789920" y="4114800"/>
            <a:ext cx="2926080" cy="2926080"/>
          </a:xfrm>
          <a:prstGeom prst="ellipse">
            <a:avLst/>
          </a:prstGeom>
          <a:solidFill>
            <a:srgbClr val="F7931E">
              <a:alpha val="20000"/>
            </a:srgbClr>
          </a:solidFill>
          <a:ln/>
        </p:spPr>
      </p:sp>
      <p:sp>
        <p:nvSpPr>
          <p:cNvPr id="4" name="Text 2"/>
          <p:cNvSpPr/>
          <p:nvPr/>
        </p:nvSpPr>
        <p:spPr>
          <a:xfrm>
            <a:off x="822960" y="1188720"/>
            <a:ext cx="9144000" cy="365760"/>
          </a:xfrm>
          <a:prstGeom prst="rect">
            <a:avLst/>
          </a:prstGeom>
          <a:noFill/>
          <a:ln/>
        </p:spPr>
        <p:txBody>
          <a:bodyPr wrap="square" rtlCol="0" anchor="ctr"/>
          <a:lstStyle/>
          <a:p>
            <a:pPr indent="0" marL="0">
              <a:buNone/>
            </a:pPr>
            <a:r>
              <a:rPr lang="en-US" sz="1250" b="1" spc="200" kern="0" dirty="0">
                <a:solidFill>
                  <a:srgbClr val="F7931E"/>
                </a:solidFill>
              </a:rPr>
              <a:t>TOGO AI LAB DATA CHALLENGE · ÉCONOMIE NUMÉRIQUE · DÉFI 1</a:t>
            </a:r>
            <a:endParaRPr lang="en-US" sz="1250" dirty="0"/>
          </a:p>
        </p:txBody>
      </p:sp>
      <p:sp>
        <p:nvSpPr>
          <p:cNvPr id="5" name="Text 3"/>
          <p:cNvSpPr/>
          <p:nvPr/>
        </p:nvSpPr>
        <p:spPr>
          <a:xfrm>
            <a:off x="822960" y="1691640"/>
            <a:ext cx="10058400" cy="2377440"/>
          </a:xfrm>
          <a:prstGeom prst="rect">
            <a:avLst/>
          </a:prstGeom>
          <a:noFill/>
          <a:ln/>
        </p:spPr>
        <p:txBody>
          <a:bodyPr wrap="square" rtlCol="0" anchor="ctr"/>
          <a:lstStyle/>
          <a:p>
            <a:pPr indent="0" marL="0">
              <a:lnSpc>
                <a:spcPct val="110000"/>
              </a:lnSpc>
              <a:buNone/>
            </a:pPr>
            <a:r>
              <a:rPr lang="en-US" sz="3600" b="1" dirty="0">
                <a:solidFill>
                  <a:srgbClr val="FFFFFF"/>
                </a:solidFill>
                <a:latin typeface="Cambria" pitchFamily="34" charset="0"/>
                <a:ea typeface="Cambria" pitchFamily="34" charset="-122"/>
                <a:cs typeface="Cambria" pitchFamily="34" charset="-120"/>
              </a:rPr>
              <a:t>Togo Digital Access</a:t>
            </a:r>
            <a:endParaRPr lang="en-US" sz="3600" dirty="0"/>
          </a:p>
          <a:p>
            <a:pPr indent="0" marL="0">
              <a:lnSpc>
                <a:spcPct val="110000"/>
              </a:lnSpc>
              <a:buNone/>
            </a:pPr>
            <a:r>
              <a:rPr lang="en-US" sz="3600" b="1" dirty="0">
                <a:solidFill>
                  <a:srgbClr val="FFFFFF"/>
                </a:solidFill>
                <a:latin typeface="Cambria" pitchFamily="34" charset="0"/>
                <a:ea typeface="Cambria" pitchFamily="34" charset="-122"/>
                <a:cs typeface="Cambria" pitchFamily="34" charset="-120"/>
              </a:rPr>
              <a:t>Diagnostic territorial de l'accès aux</a:t>
            </a:r>
            <a:endParaRPr lang="en-US" sz="3600" dirty="0"/>
          </a:p>
          <a:p>
            <a:pPr indent="0" marL="0">
              <a:lnSpc>
                <a:spcPct val="110000"/>
              </a:lnSpc>
              <a:buNone/>
            </a:pPr>
            <a:r>
              <a:rPr lang="en-US" sz="3600" b="1" dirty="0">
                <a:solidFill>
                  <a:srgbClr val="FFFFFF"/>
                </a:solidFill>
                <a:latin typeface="Cambria" pitchFamily="34" charset="0"/>
                <a:ea typeface="Cambria" pitchFamily="34" charset="-122"/>
                <a:cs typeface="Cambria" pitchFamily="34" charset="-120"/>
              </a:rPr>
              <a:t>télécommunications et services numériques</a:t>
            </a:r>
            <a:endParaRPr lang="en-US" sz="3600" dirty="0"/>
          </a:p>
        </p:txBody>
      </p:sp>
      <p:sp>
        <p:nvSpPr>
          <p:cNvPr id="6" name="Text 4"/>
          <p:cNvSpPr/>
          <p:nvPr/>
        </p:nvSpPr>
        <p:spPr>
          <a:xfrm>
            <a:off x="822960" y="4297680"/>
            <a:ext cx="7955280" cy="822960"/>
          </a:xfrm>
          <a:prstGeom prst="rect">
            <a:avLst/>
          </a:prstGeom>
          <a:noFill/>
          <a:ln/>
        </p:spPr>
        <p:txBody>
          <a:bodyPr wrap="square" rtlCol="0" anchor="ctr"/>
          <a:lstStyle/>
          <a:p>
            <a:pPr indent="0" marL="0">
              <a:lnSpc>
                <a:spcPct val="120000"/>
              </a:lnSpc>
              <a:buNone/>
            </a:pPr>
            <a:r>
              <a:rPr lang="en-US" sz="1500" dirty="0">
                <a:solidFill>
                  <a:srgbClr val="CADCFC"/>
                </a:solidFill>
              </a:rPr>
              <a:t>Cartographie des infrastructures, score de priorité territoriale par préfecture, et recommandations d'extension de la connectivité.</a:t>
            </a:r>
            <a:endParaRPr lang="en-US" sz="1500" dirty="0"/>
          </a:p>
        </p:txBody>
      </p:sp>
      <p:sp>
        <p:nvSpPr>
          <p:cNvPr id="7" name="Text 5"/>
          <p:cNvSpPr/>
          <p:nvPr/>
        </p:nvSpPr>
        <p:spPr>
          <a:xfrm>
            <a:off x="822960" y="5486400"/>
            <a:ext cx="2743200" cy="548640"/>
          </a:xfrm>
          <a:prstGeom prst="rect">
            <a:avLst/>
          </a:prstGeom>
          <a:noFill/>
          <a:ln/>
        </p:spPr>
        <p:txBody>
          <a:bodyPr wrap="square" rtlCol="0" anchor="ctr"/>
          <a:lstStyle/>
          <a:p>
            <a:pPr indent="0" marL="0">
              <a:buNone/>
            </a:pPr>
            <a:r>
              <a:rPr lang="en-US" sz="3000" b="1" dirty="0">
                <a:solidFill>
                  <a:srgbClr val="F7931E"/>
                </a:solidFill>
                <a:latin typeface="Cambria" pitchFamily="34" charset="0"/>
                <a:ea typeface="Cambria" pitchFamily="34" charset="-122"/>
                <a:cs typeface="Cambria" pitchFamily="34" charset="-120"/>
              </a:rPr>
              <a:t>90</a:t>
            </a:r>
            <a:endParaRPr lang="en-US" sz="3000" dirty="0"/>
          </a:p>
        </p:txBody>
      </p:sp>
      <p:sp>
        <p:nvSpPr>
          <p:cNvPr id="8" name="Text 6"/>
          <p:cNvSpPr/>
          <p:nvPr/>
        </p:nvSpPr>
        <p:spPr>
          <a:xfrm>
            <a:off x="822960" y="6035040"/>
            <a:ext cx="2743200" cy="365760"/>
          </a:xfrm>
          <a:prstGeom prst="rect">
            <a:avLst/>
          </a:prstGeom>
          <a:noFill/>
          <a:ln/>
        </p:spPr>
        <p:txBody>
          <a:bodyPr wrap="square" rtlCol="0" anchor="ctr"/>
          <a:lstStyle/>
          <a:p>
            <a:pPr indent="0" marL="0">
              <a:buNone/>
            </a:pPr>
            <a:r>
              <a:rPr lang="en-US" sz="1200" dirty="0">
                <a:solidFill>
                  <a:srgbClr val="CADCFC"/>
                </a:solidFill>
              </a:rPr>
              <a:t>agences télécoms</a:t>
            </a:r>
            <a:endParaRPr lang="en-US" sz="1200" dirty="0"/>
          </a:p>
        </p:txBody>
      </p:sp>
      <p:sp>
        <p:nvSpPr>
          <p:cNvPr id="9" name="Text 7"/>
          <p:cNvSpPr/>
          <p:nvPr/>
        </p:nvSpPr>
        <p:spPr>
          <a:xfrm>
            <a:off x="3657600" y="5486400"/>
            <a:ext cx="2743200" cy="548640"/>
          </a:xfrm>
          <a:prstGeom prst="rect">
            <a:avLst/>
          </a:prstGeom>
          <a:noFill/>
          <a:ln/>
        </p:spPr>
        <p:txBody>
          <a:bodyPr wrap="square" rtlCol="0" anchor="ctr"/>
          <a:lstStyle/>
          <a:p>
            <a:pPr indent="0" marL="0">
              <a:buNone/>
            </a:pPr>
            <a:r>
              <a:rPr lang="en-US" sz="3000" b="1" dirty="0">
                <a:solidFill>
                  <a:srgbClr val="F7931E"/>
                </a:solidFill>
                <a:latin typeface="Cambria" pitchFamily="34" charset="0"/>
                <a:ea typeface="Cambria" pitchFamily="34" charset="-122"/>
                <a:cs typeface="Cambria" pitchFamily="34" charset="-120"/>
              </a:rPr>
              <a:t>19 619</a:t>
            </a:r>
            <a:endParaRPr lang="en-US" sz="3000" dirty="0"/>
          </a:p>
        </p:txBody>
      </p:sp>
      <p:sp>
        <p:nvSpPr>
          <p:cNvPr id="10" name="Text 8"/>
          <p:cNvSpPr/>
          <p:nvPr/>
        </p:nvSpPr>
        <p:spPr>
          <a:xfrm>
            <a:off x="3657600" y="6035040"/>
            <a:ext cx="2743200" cy="365760"/>
          </a:xfrm>
          <a:prstGeom prst="rect">
            <a:avLst/>
          </a:prstGeom>
          <a:noFill/>
          <a:ln/>
        </p:spPr>
        <p:txBody>
          <a:bodyPr wrap="square" rtlCol="0" anchor="ctr"/>
          <a:lstStyle/>
          <a:p>
            <a:pPr indent="0" marL="0">
              <a:buNone/>
            </a:pPr>
            <a:r>
              <a:rPr lang="en-US" sz="1200" dirty="0">
                <a:solidFill>
                  <a:srgbClr val="CADCFC"/>
                </a:solidFill>
              </a:rPr>
              <a:t>agents Mobile Money</a:t>
            </a:r>
            <a:endParaRPr lang="en-US" sz="1200" dirty="0"/>
          </a:p>
        </p:txBody>
      </p:sp>
      <p:sp>
        <p:nvSpPr>
          <p:cNvPr id="11" name="Text 9"/>
          <p:cNvSpPr/>
          <p:nvPr/>
        </p:nvSpPr>
        <p:spPr>
          <a:xfrm>
            <a:off x="6492240" y="5486400"/>
            <a:ext cx="2743200" cy="548640"/>
          </a:xfrm>
          <a:prstGeom prst="rect">
            <a:avLst/>
          </a:prstGeom>
          <a:noFill/>
          <a:ln/>
        </p:spPr>
        <p:txBody>
          <a:bodyPr wrap="square" rtlCol="0" anchor="ctr"/>
          <a:lstStyle/>
          <a:p>
            <a:pPr indent="0" marL="0">
              <a:buNone/>
            </a:pPr>
            <a:r>
              <a:rPr lang="en-US" sz="3000" b="1" dirty="0">
                <a:solidFill>
                  <a:srgbClr val="F7931E"/>
                </a:solidFill>
                <a:latin typeface="Cambria" pitchFamily="34" charset="0"/>
                <a:ea typeface="Cambria" pitchFamily="34" charset="-122"/>
                <a:cs typeface="Cambria" pitchFamily="34" charset="-120"/>
              </a:rPr>
              <a:t>9.6M</a:t>
            </a:r>
            <a:endParaRPr lang="en-US" sz="3000" dirty="0"/>
          </a:p>
        </p:txBody>
      </p:sp>
      <p:sp>
        <p:nvSpPr>
          <p:cNvPr id="12" name="Text 10"/>
          <p:cNvSpPr/>
          <p:nvPr/>
        </p:nvSpPr>
        <p:spPr>
          <a:xfrm>
            <a:off x="6492240" y="6035040"/>
            <a:ext cx="2743200" cy="365760"/>
          </a:xfrm>
          <a:prstGeom prst="rect">
            <a:avLst/>
          </a:prstGeom>
          <a:noFill/>
          <a:ln/>
        </p:spPr>
        <p:txBody>
          <a:bodyPr wrap="square" rtlCol="0" anchor="ctr"/>
          <a:lstStyle/>
          <a:p>
            <a:pPr indent="0" marL="0">
              <a:buNone/>
            </a:pPr>
            <a:r>
              <a:rPr lang="en-US" sz="1200" dirty="0">
                <a:solidFill>
                  <a:srgbClr val="CADCFC"/>
                </a:solidFill>
              </a:rPr>
              <a:t>habitants estimés</a:t>
            </a:r>
            <a:endParaRPr lang="en-US" sz="1200" dirty="0"/>
          </a:p>
        </p:txBody>
      </p:sp>
      <p:sp>
        <p:nvSpPr>
          <p:cNvPr id="13" name="Text 11"/>
          <p:cNvSpPr/>
          <p:nvPr/>
        </p:nvSpPr>
        <p:spPr>
          <a:xfrm>
            <a:off x="457200" y="6537960"/>
            <a:ext cx="7315200" cy="274320"/>
          </a:xfrm>
          <a:prstGeom prst="rect">
            <a:avLst/>
          </a:prstGeom>
          <a:noFill/>
          <a:ln/>
        </p:spPr>
        <p:txBody>
          <a:bodyPr wrap="square" rtlCol="0" anchor="ctr"/>
          <a:lstStyle/>
          <a:p>
            <a:pPr indent="0" marL="0">
              <a:buNone/>
            </a:pPr>
            <a:r>
              <a:rPr lang="en-US" sz="900" dirty="0">
                <a:solidFill>
                  <a:srgbClr val="6B7893"/>
                </a:solidFill>
              </a:rPr>
              <a:t>Togo Digital Access — Diagnostic télécoms &amp; inclusion numérique</a:t>
            </a:r>
            <a:endParaRPr lang="en-US" sz="900" dirty="0"/>
          </a:p>
        </p:txBody>
      </p:sp>
      <p:sp>
        <p:nvSpPr>
          <p:cNvPr id="14" name="Text 12"/>
          <p:cNvSpPr/>
          <p:nvPr/>
        </p:nvSpPr>
        <p:spPr>
          <a:xfrm>
            <a:off x="11338560" y="6537960"/>
            <a:ext cx="548640" cy="274320"/>
          </a:xfrm>
          <a:prstGeom prst="rect">
            <a:avLst/>
          </a:prstGeom>
          <a:noFill/>
          <a:ln/>
        </p:spPr>
        <p:txBody>
          <a:bodyPr wrap="square" rtlCol="0" anchor="ctr"/>
          <a:lstStyle/>
          <a:p>
            <a:pPr algn="r" indent="0" marL="0">
              <a:buNone/>
            </a:pPr>
            <a:r>
              <a:rPr lang="en-US" sz="900" dirty="0">
                <a:solidFill>
                  <a:srgbClr val="6B7893"/>
                </a:solidFill>
              </a:rPr>
              <a:t>1 / 10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457200" y="320040"/>
            <a:ext cx="7315200" cy="274320"/>
          </a:xfrm>
          <a:prstGeom prst="rect">
            <a:avLst/>
          </a:prstGeom>
          <a:noFill/>
          <a:ln/>
        </p:spPr>
        <p:txBody>
          <a:bodyPr wrap="square" rtlCol="0" anchor="ctr"/>
          <a:lstStyle/>
          <a:p>
            <a:pPr indent="0" marL="0">
              <a:buNone/>
            </a:pPr>
            <a:r>
              <a:rPr lang="en-US" sz="1200" b="1" spc="200" kern="0" dirty="0">
                <a:solidFill>
                  <a:srgbClr val="F7931E"/>
                </a:solidFill>
              </a:rPr>
              <a:t>CONTEXTE</a:t>
            </a:r>
            <a:endParaRPr lang="en-US" sz="1200" dirty="0"/>
          </a:p>
        </p:txBody>
      </p:sp>
      <p:sp>
        <p:nvSpPr>
          <p:cNvPr id="3" name="Text 1"/>
          <p:cNvSpPr/>
          <p:nvPr/>
        </p:nvSpPr>
        <p:spPr>
          <a:xfrm>
            <a:off x="457200" y="566928"/>
            <a:ext cx="11247120" cy="640080"/>
          </a:xfrm>
          <a:prstGeom prst="rect">
            <a:avLst/>
          </a:prstGeom>
          <a:noFill/>
          <a:ln/>
        </p:spPr>
        <p:txBody>
          <a:bodyPr wrap="square" rtlCol="0" anchor="ctr"/>
          <a:lstStyle/>
          <a:p>
            <a:pPr indent="0" marL="0">
              <a:buNone/>
            </a:pPr>
            <a:r>
              <a:rPr lang="en-US" sz="2800" b="1" dirty="0">
                <a:solidFill>
                  <a:srgbClr val="1B2436"/>
                </a:solidFill>
                <a:latin typeface="Cambria" pitchFamily="34" charset="0"/>
                <a:ea typeface="Cambria" pitchFamily="34" charset="-122"/>
                <a:cs typeface="Cambria" pitchFamily="34" charset="-120"/>
              </a:rPr>
              <a:t>Objectifs, données et pipeline</a:t>
            </a:r>
            <a:endParaRPr lang="en-US" sz="2800" dirty="0"/>
          </a:p>
        </p:txBody>
      </p:sp>
      <p:sp>
        <p:nvSpPr>
          <p:cNvPr id="4" name="Shape 2"/>
          <p:cNvSpPr/>
          <p:nvPr/>
        </p:nvSpPr>
        <p:spPr>
          <a:xfrm>
            <a:off x="457200" y="1627632"/>
            <a:ext cx="146304" cy="146304"/>
          </a:xfrm>
          <a:prstGeom prst="ellipse">
            <a:avLst/>
          </a:prstGeom>
          <a:solidFill>
            <a:srgbClr val="F7931E"/>
          </a:solidFill>
          <a:ln/>
        </p:spPr>
      </p:sp>
      <p:sp>
        <p:nvSpPr>
          <p:cNvPr id="5" name="Text 3"/>
          <p:cNvSpPr/>
          <p:nvPr/>
        </p:nvSpPr>
        <p:spPr>
          <a:xfrm>
            <a:off x="777240" y="1490472"/>
            <a:ext cx="5577840" cy="457200"/>
          </a:xfrm>
          <a:prstGeom prst="rect">
            <a:avLst/>
          </a:prstGeom>
          <a:noFill/>
          <a:ln/>
        </p:spPr>
        <p:txBody>
          <a:bodyPr wrap="square" rtlCol="0" anchor="t"/>
          <a:lstStyle/>
          <a:p>
            <a:pPr indent="0" marL="0">
              <a:buNone/>
            </a:pPr>
            <a:r>
              <a:rPr lang="en-US" sz="1350" dirty="0">
                <a:solidFill>
                  <a:srgbClr val="1B2436"/>
                </a:solidFill>
              </a:rPr>
              <a:t>Cartographier agences télécoms (Moov/Togocom/CANAL+) et datacenters</a:t>
            </a:r>
            <a:endParaRPr lang="en-US" sz="1350" dirty="0"/>
          </a:p>
        </p:txBody>
      </p:sp>
      <p:sp>
        <p:nvSpPr>
          <p:cNvPr id="6" name="Shape 4"/>
          <p:cNvSpPr/>
          <p:nvPr/>
        </p:nvSpPr>
        <p:spPr>
          <a:xfrm>
            <a:off x="457200" y="2286000"/>
            <a:ext cx="146304" cy="146304"/>
          </a:xfrm>
          <a:prstGeom prst="ellipse">
            <a:avLst/>
          </a:prstGeom>
          <a:solidFill>
            <a:srgbClr val="F7931E"/>
          </a:solidFill>
          <a:ln/>
        </p:spPr>
      </p:sp>
      <p:sp>
        <p:nvSpPr>
          <p:cNvPr id="7" name="Text 5"/>
          <p:cNvSpPr/>
          <p:nvPr/>
        </p:nvSpPr>
        <p:spPr>
          <a:xfrm>
            <a:off x="777240" y="2148840"/>
            <a:ext cx="5577840" cy="457200"/>
          </a:xfrm>
          <a:prstGeom prst="rect">
            <a:avLst/>
          </a:prstGeom>
          <a:noFill/>
          <a:ln/>
        </p:spPr>
        <p:txBody>
          <a:bodyPr wrap="square" rtlCol="0" anchor="t"/>
          <a:lstStyle/>
          <a:p>
            <a:pPr indent="0" marL="0">
              <a:buNone/>
            </a:pPr>
            <a:r>
              <a:rPr lang="en-US" sz="1350" dirty="0">
                <a:solidFill>
                  <a:srgbClr val="1B2436"/>
                </a:solidFill>
              </a:rPr>
              <a:t>Croiser Mobile Money et densité démographique par préfecture</a:t>
            </a:r>
            <a:endParaRPr lang="en-US" sz="1350" dirty="0"/>
          </a:p>
        </p:txBody>
      </p:sp>
      <p:sp>
        <p:nvSpPr>
          <p:cNvPr id="8" name="Shape 6"/>
          <p:cNvSpPr/>
          <p:nvPr/>
        </p:nvSpPr>
        <p:spPr>
          <a:xfrm>
            <a:off x="457200" y="2944368"/>
            <a:ext cx="146304" cy="146304"/>
          </a:xfrm>
          <a:prstGeom prst="ellipse">
            <a:avLst/>
          </a:prstGeom>
          <a:solidFill>
            <a:srgbClr val="F7931E"/>
          </a:solidFill>
          <a:ln/>
        </p:spPr>
      </p:sp>
      <p:sp>
        <p:nvSpPr>
          <p:cNvPr id="9" name="Text 7"/>
          <p:cNvSpPr/>
          <p:nvPr/>
        </p:nvSpPr>
        <p:spPr>
          <a:xfrm>
            <a:off x="777240" y="2807208"/>
            <a:ext cx="5577840" cy="457200"/>
          </a:xfrm>
          <a:prstGeom prst="rect">
            <a:avLst/>
          </a:prstGeom>
          <a:noFill/>
          <a:ln/>
        </p:spPr>
        <p:txBody>
          <a:bodyPr wrap="square" rtlCol="0" anchor="t"/>
          <a:lstStyle/>
          <a:p>
            <a:pPr indent="0" marL="0">
              <a:buNone/>
            </a:pPr>
            <a:r>
              <a:rPr lang="en-US" sz="1350" dirty="0">
                <a:solidFill>
                  <a:srgbClr val="1B2436"/>
                </a:solidFill>
              </a:rPr>
              <a:t>Estimer la population par préfecture (WorldPop 2020, zonal stats)</a:t>
            </a:r>
            <a:endParaRPr lang="en-US" sz="1350" dirty="0"/>
          </a:p>
        </p:txBody>
      </p:sp>
      <p:sp>
        <p:nvSpPr>
          <p:cNvPr id="10" name="Shape 8"/>
          <p:cNvSpPr/>
          <p:nvPr/>
        </p:nvSpPr>
        <p:spPr>
          <a:xfrm>
            <a:off x="457200" y="3602736"/>
            <a:ext cx="146304" cy="146304"/>
          </a:xfrm>
          <a:prstGeom prst="ellipse">
            <a:avLst/>
          </a:prstGeom>
          <a:solidFill>
            <a:srgbClr val="F7931E"/>
          </a:solidFill>
          <a:ln/>
        </p:spPr>
      </p:sp>
      <p:sp>
        <p:nvSpPr>
          <p:cNvPr id="11" name="Text 9"/>
          <p:cNvSpPr/>
          <p:nvPr/>
        </p:nvSpPr>
        <p:spPr>
          <a:xfrm>
            <a:off x="777240" y="3465576"/>
            <a:ext cx="5577840" cy="457200"/>
          </a:xfrm>
          <a:prstGeom prst="rect">
            <a:avLst/>
          </a:prstGeom>
          <a:noFill/>
          <a:ln/>
        </p:spPr>
        <p:txBody>
          <a:bodyPr wrap="square" rtlCol="0" anchor="t"/>
          <a:lstStyle/>
          <a:p>
            <a:pPr indent="0" marL="0">
              <a:buNone/>
            </a:pPr>
            <a:r>
              <a:rPr lang="en-US" sz="1350" dirty="0">
                <a:solidFill>
                  <a:srgbClr val="1B2436"/>
                </a:solidFill>
              </a:rPr>
              <a:t>Construire un score de priorité territoriale reproductible</a:t>
            </a:r>
            <a:endParaRPr lang="en-US" sz="1350" dirty="0"/>
          </a:p>
        </p:txBody>
      </p:sp>
      <p:sp>
        <p:nvSpPr>
          <p:cNvPr id="12" name="Shape 10"/>
          <p:cNvSpPr/>
          <p:nvPr/>
        </p:nvSpPr>
        <p:spPr>
          <a:xfrm>
            <a:off x="457200" y="4261104"/>
            <a:ext cx="146304" cy="146304"/>
          </a:xfrm>
          <a:prstGeom prst="ellipse">
            <a:avLst/>
          </a:prstGeom>
          <a:solidFill>
            <a:srgbClr val="F7931E"/>
          </a:solidFill>
          <a:ln/>
        </p:spPr>
      </p:sp>
      <p:sp>
        <p:nvSpPr>
          <p:cNvPr id="13" name="Text 11"/>
          <p:cNvSpPr/>
          <p:nvPr/>
        </p:nvSpPr>
        <p:spPr>
          <a:xfrm>
            <a:off x="777240" y="4123944"/>
            <a:ext cx="5577840" cy="457200"/>
          </a:xfrm>
          <a:prstGeom prst="rect">
            <a:avLst/>
          </a:prstGeom>
          <a:noFill/>
          <a:ln/>
        </p:spPr>
        <p:txBody>
          <a:bodyPr wrap="square" rtlCol="0" anchor="t"/>
          <a:lstStyle/>
          <a:p>
            <a:pPr indent="0" marL="0">
              <a:buNone/>
            </a:pPr>
            <a:r>
              <a:rPr lang="en-US" sz="1350" dirty="0">
                <a:solidFill>
                  <a:srgbClr val="1B2436"/>
                </a:solidFill>
              </a:rPr>
              <a:t>Identifier les préfectures à cibler en premier</a:t>
            </a:r>
            <a:endParaRPr lang="en-US" sz="1350" dirty="0"/>
          </a:p>
        </p:txBody>
      </p:sp>
      <p:sp>
        <p:nvSpPr>
          <p:cNvPr id="14" name="Shape 12"/>
          <p:cNvSpPr/>
          <p:nvPr/>
        </p:nvSpPr>
        <p:spPr>
          <a:xfrm>
            <a:off x="6583680" y="1508760"/>
            <a:ext cx="5120640" cy="3566160"/>
          </a:xfrm>
          <a:prstGeom prst="roundRect">
            <a:avLst>
              <a:gd name="adj" fmla="val 2564"/>
            </a:avLst>
          </a:prstGeom>
          <a:solidFill>
            <a:srgbClr val="FFFFFF"/>
          </a:solidFill>
          <a:ln w="12700">
            <a:solidFill>
              <a:srgbClr val="E3E8F0"/>
            </a:solidFill>
            <a:prstDash val="solid"/>
          </a:ln>
        </p:spPr>
      </p:sp>
      <p:sp>
        <p:nvSpPr>
          <p:cNvPr id="15" name="Text 13"/>
          <p:cNvSpPr/>
          <p:nvPr/>
        </p:nvSpPr>
        <p:spPr>
          <a:xfrm>
            <a:off x="6903720" y="1691640"/>
            <a:ext cx="4572000" cy="274320"/>
          </a:xfrm>
          <a:prstGeom prst="rect">
            <a:avLst/>
          </a:prstGeom>
          <a:noFill/>
          <a:ln/>
        </p:spPr>
        <p:txBody>
          <a:bodyPr wrap="square" rtlCol="0" anchor="ctr"/>
          <a:lstStyle/>
          <a:p>
            <a:pPr indent="0" marL="0">
              <a:buNone/>
            </a:pPr>
            <a:r>
              <a:rPr lang="en-US" sz="1100" b="1" spc="100" kern="0" dirty="0">
                <a:solidFill>
                  <a:srgbClr val="6B7893"/>
                </a:solidFill>
              </a:rPr>
              <a:t>PIPELINE DE DONNÉES (reproductible)</a:t>
            </a:r>
            <a:endParaRPr lang="en-US" sz="1100" dirty="0"/>
          </a:p>
        </p:txBody>
      </p:sp>
      <p:sp>
        <p:nvSpPr>
          <p:cNvPr id="16" name="Text 14"/>
          <p:cNvSpPr/>
          <p:nvPr/>
        </p:nvSpPr>
        <p:spPr>
          <a:xfrm>
            <a:off x="6903720" y="2103120"/>
            <a:ext cx="4572000" cy="365760"/>
          </a:xfrm>
          <a:prstGeom prst="rect">
            <a:avLst/>
          </a:prstGeom>
          <a:noFill/>
          <a:ln/>
        </p:spPr>
        <p:txBody>
          <a:bodyPr wrap="square" rtlCol="0" anchor="ctr"/>
          <a:lstStyle/>
          <a:p>
            <a:pPr indent="0" marL="0">
              <a:buNone/>
            </a:pPr>
            <a:r>
              <a:rPr lang="en-US" sz="1200" dirty="0">
                <a:solidFill>
                  <a:srgbClr val="1B2436"/>
                </a:solidFill>
              </a:rPr>
              <a:t>1. check_data.py — vérification des fichiers bruts</a:t>
            </a:r>
            <a:endParaRPr lang="en-US" sz="1200" dirty="0"/>
          </a:p>
        </p:txBody>
      </p:sp>
      <p:sp>
        <p:nvSpPr>
          <p:cNvPr id="17" name="Text 15"/>
          <p:cNvSpPr/>
          <p:nvPr/>
        </p:nvSpPr>
        <p:spPr>
          <a:xfrm>
            <a:off x="6903720" y="2560320"/>
            <a:ext cx="4572000" cy="365760"/>
          </a:xfrm>
          <a:prstGeom prst="rect">
            <a:avLst/>
          </a:prstGeom>
          <a:noFill/>
          <a:ln/>
        </p:spPr>
        <p:txBody>
          <a:bodyPr wrap="square" rtlCol="0" anchor="ctr"/>
          <a:lstStyle/>
          <a:p>
            <a:pPr indent="0" marL="0">
              <a:buNone/>
            </a:pPr>
            <a:r>
              <a:rPr lang="en-US" sz="1200" dirty="0">
                <a:solidFill>
                  <a:srgbClr val="1B2436"/>
                </a:solidFill>
              </a:rPr>
              <a:t>2. clean_data.py — nettoyage, dédoublonnage, CRS</a:t>
            </a:r>
            <a:endParaRPr lang="en-US" sz="1200" dirty="0"/>
          </a:p>
        </p:txBody>
      </p:sp>
      <p:sp>
        <p:nvSpPr>
          <p:cNvPr id="18" name="Text 16"/>
          <p:cNvSpPr/>
          <p:nvPr/>
        </p:nvSpPr>
        <p:spPr>
          <a:xfrm>
            <a:off x="6903720" y="3017520"/>
            <a:ext cx="4572000" cy="365760"/>
          </a:xfrm>
          <a:prstGeom prst="rect">
            <a:avLst/>
          </a:prstGeom>
          <a:noFill/>
          <a:ln/>
        </p:spPr>
        <p:txBody>
          <a:bodyPr wrap="square" rtlCol="0" anchor="ctr"/>
          <a:lstStyle/>
          <a:p>
            <a:pPr indent="0" marL="0">
              <a:buNone/>
            </a:pPr>
            <a:r>
              <a:rPr lang="en-US" sz="1200" dirty="0">
                <a:solidFill>
                  <a:srgbClr val="1B2436"/>
                </a:solidFill>
              </a:rPr>
              <a:t>3. analyze_data.py — jointures spatiales + WorldPop zonal stats</a:t>
            </a:r>
            <a:endParaRPr lang="en-US" sz="1200" dirty="0"/>
          </a:p>
        </p:txBody>
      </p:sp>
      <p:sp>
        <p:nvSpPr>
          <p:cNvPr id="19" name="Text 17"/>
          <p:cNvSpPr/>
          <p:nvPr/>
        </p:nvSpPr>
        <p:spPr>
          <a:xfrm>
            <a:off x="6903720" y="3474720"/>
            <a:ext cx="4572000" cy="365760"/>
          </a:xfrm>
          <a:prstGeom prst="rect">
            <a:avLst/>
          </a:prstGeom>
          <a:noFill/>
          <a:ln/>
        </p:spPr>
        <p:txBody>
          <a:bodyPr wrap="square" rtlCol="0" anchor="ctr"/>
          <a:lstStyle/>
          <a:p>
            <a:pPr indent="0" marL="0">
              <a:buNone/>
            </a:pPr>
            <a:r>
              <a:rPr lang="en-US" sz="1200" dirty="0">
                <a:solidFill>
                  <a:srgbClr val="1B2436"/>
                </a:solidFill>
              </a:rPr>
              <a:t>4. score_priorite.py — score de priorité normalisé</a:t>
            </a:r>
            <a:endParaRPr lang="en-US" sz="1200" dirty="0"/>
          </a:p>
        </p:txBody>
      </p:sp>
      <p:sp>
        <p:nvSpPr>
          <p:cNvPr id="20" name="Text 18"/>
          <p:cNvSpPr/>
          <p:nvPr/>
        </p:nvSpPr>
        <p:spPr>
          <a:xfrm>
            <a:off x="6903720" y="3931920"/>
            <a:ext cx="4572000" cy="365760"/>
          </a:xfrm>
          <a:prstGeom prst="rect">
            <a:avLst/>
          </a:prstGeom>
          <a:noFill/>
          <a:ln/>
        </p:spPr>
        <p:txBody>
          <a:bodyPr wrap="square" rtlCol="0" anchor="ctr"/>
          <a:lstStyle/>
          <a:p>
            <a:pPr indent="0" marL="0">
              <a:buNone/>
            </a:pPr>
            <a:r>
              <a:rPr lang="en-US" sz="1200" dirty="0">
                <a:solidFill>
                  <a:srgbClr val="1B2436"/>
                </a:solidFill>
              </a:rPr>
              <a:t>5. app/main.py — dashboard Streamlit interactif</a:t>
            </a:r>
            <a:endParaRPr lang="en-US" sz="1200" dirty="0"/>
          </a:p>
        </p:txBody>
      </p:sp>
      <p:sp>
        <p:nvSpPr>
          <p:cNvPr id="21" name="Shape 19"/>
          <p:cNvSpPr/>
          <p:nvPr/>
        </p:nvSpPr>
        <p:spPr>
          <a:xfrm>
            <a:off x="6583680" y="5212080"/>
            <a:ext cx="5120640" cy="1051560"/>
          </a:xfrm>
          <a:prstGeom prst="roundRect">
            <a:avLst>
              <a:gd name="adj" fmla="val 6957"/>
            </a:avLst>
          </a:prstGeom>
          <a:solidFill>
            <a:srgbClr val="FDF1EC"/>
          </a:solidFill>
          <a:ln/>
        </p:spPr>
      </p:sp>
      <p:sp>
        <p:nvSpPr>
          <p:cNvPr id="22" name="Text 20"/>
          <p:cNvSpPr/>
          <p:nvPr/>
        </p:nvSpPr>
        <p:spPr>
          <a:xfrm>
            <a:off x="6812280" y="5330952"/>
            <a:ext cx="4572000" cy="274320"/>
          </a:xfrm>
          <a:prstGeom prst="rect">
            <a:avLst/>
          </a:prstGeom>
          <a:noFill/>
          <a:ln/>
        </p:spPr>
        <p:txBody>
          <a:bodyPr wrap="square" rtlCol="0" anchor="ctr"/>
          <a:lstStyle/>
          <a:p>
            <a:pPr indent="0" marL="0">
              <a:buNone/>
            </a:pPr>
            <a:r>
              <a:rPr lang="en-US" sz="1150" b="1" dirty="0">
                <a:solidFill>
                  <a:srgbClr val="C0392B"/>
                </a:solidFill>
              </a:rPr>
              <a:t>⚠ Limite de données</a:t>
            </a:r>
            <a:endParaRPr lang="en-US" sz="1150" dirty="0"/>
          </a:p>
        </p:txBody>
      </p:sp>
      <p:sp>
        <p:nvSpPr>
          <p:cNvPr id="23" name="Text 21"/>
          <p:cNvSpPr/>
          <p:nvPr/>
        </p:nvSpPr>
        <p:spPr>
          <a:xfrm>
            <a:off x="6812280" y="5577840"/>
            <a:ext cx="4663440" cy="640080"/>
          </a:xfrm>
          <a:prstGeom prst="rect">
            <a:avLst/>
          </a:prstGeom>
          <a:noFill/>
          <a:ln/>
        </p:spPr>
        <p:txBody>
          <a:bodyPr wrap="square" rtlCol="0" anchor="ctr"/>
          <a:lstStyle/>
          <a:p>
            <a:pPr indent="0" marL="0">
              <a:lnSpc>
                <a:spcPct val="115000"/>
              </a:lnSpc>
              <a:buNone/>
            </a:pPr>
            <a:r>
              <a:rPr lang="en-US" sz="1050" dirty="0">
                <a:solidFill>
                  <a:srgbClr val="1B2436"/>
                </a:solidFill>
              </a:rPr>
              <a:t>CANAL+ : export source vide. OpenCelliD (32 antennes) : échantillon collaboratif, non exhaustif — traité à titre illustratif.</a:t>
            </a:r>
            <a:endParaRPr lang="en-US" sz="1050" dirty="0"/>
          </a:p>
        </p:txBody>
      </p:sp>
      <p:sp>
        <p:nvSpPr>
          <p:cNvPr id="24" name="Text 22"/>
          <p:cNvSpPr/>
          <p:nvPr/>
        </p:nvSpPr>
        <p:spPr>
          <a:xfrm>
            <a:off x="457200" y="6537960"/>
            <a:ext cx="7315200" cy="274320"/>
          </a:xfrm>
          <a:prstGeom prst="rect">
            <a:avLst/>
          </a:prstGeom>
          <a:noFill/>
          <a:ln/>
        </p:spPr>
        <p:txBody>
          <a:bodyPr wrap="square" rtlCol="0" anchor="ctr"/>
          <a:lstStyle/>
          <a:p>
            <a:pPr indent="0" marL="0">
              <a:buNone/>
            </a:pPr>
            <a:r>
              <a:rPr lang="en-US" sz="900" dirty="0">
                <a:solidFill>
                  <a:srgbClr val="6B7893"/>
                </a:solidFill>
              </a:rPr>
              <a:t>Togo Digital Access — Diagnostic télécoms &amp; inclusion numérique</a:t>
            </a:r>
            <a:endParaRPr lang="en-US" sz="900" dirty="0"/>
          </a:p>
        </p:txBody>
      </p:sp>
      <p:sp>
        <p:nvSpPr>
          <p:cNvPr id="25" name="Text 23"/>
          <p:cNvSpPr/>
          <p:nvPr/>
        </p:nvSpPr>
        <p:spPr>
          <a:xfrm>
            <a:off x="11338560" y="6537960"/>
            <a:ext cx="548640" cy="274320"/>
          </a:xfrm>
          <a:prstGeom prst="rect">
            <a:avLst/>
          </a:prstGeom>
          <a:noFill/>
          <a:ln/>
        </p:spPr>
        <p:txBody>
          <a:bodyPr wrap="square" rtlCol="0" anchor="ctr"/>
          <a:lstStyle/>
          <a:p>
            <a:pPr algn="r" indent="0" marL="0">
              <a:buNone/>
            </a:pPr>
            <a:r>
              <a:rPr lang="en-US" sz="900" dirty="0">
                <a:solidFill>
                  <a:srgbClr val="6B7893"/>
                </a:solidFill>
              </a:rPr>
              <a:t>2 / 10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457200" y="320040"/>
            <a:ext cx="7315200" cy="274320"/>
          </a:xfrm>
          <a:prstGeom prst="rect">
            <a:avLst/>
          </a:prstGeom>
          <a:noFill/>
          <a:ln/>
        </p:spPr>
        <p:txBody>
          <a:bodyPr wrap="square" rtlCol="0" anchor="ctr"/>
          <a:lstStyle/>
          <a:p>
            <a:pPr indent="0" marL="0">
              <a:buNone/>
            </a:pPr>
            <a:r>
              <a:rPr lang="en-US" sz="1200" b="1" spc="200" kern="0" dirty="0">
                <a:solidFill>
                  <a:srgbClr val="F7931E"/>
                </a:solidFill>
              </a:rPr>
              <a:t>VUE D'ENSEMBLE</a:t>
            </a:r>
            <a:endParaRPr lang="en-US" sz="1200" dirty="0"/>
          </a:p>
        </p:txBody>
      </p:sp>
      <p:sp>
        <p:nvSpPr>
          <p:cNvPr id="3" name="Text 1"/>
          <p:cNvSpPr/>
          <p:nvPr/>
        </p:nvSpPr>
        <p:spPr>
          <a:xfrm>
            <a:off x="457200" y="566928"/>
            <a:ext cx="11247120" cy="640080"/>
          </a:xfrm>
          <a:prstGeom prst="rect">
            <a:avLst/>
          </a:prstGeom>
          <a:noFill/>
          <a:ln/>
        </p:spPr>
        <p:txBody>
          <a:bodyPr wrap="square" rtlCol="0" anchor="ctr"/>
          <a:lstStyle/>
          <a:p>
            <a:pPr indent="0" marL="0">
              <a:buNone/>
            </a:pPr>
            <a:r>
              <a:rPr lang="en-US" sz="2800" b="1" dirty="0">
                <a:solidFill>
                  <a:srgbClr val="1B2436"/>
                </a:solidFill>
                <a:latin typeface="Cambria" pitchFamily="34" charset="0"/>
                <a:ea typeface="Cambria" pitchFamily="34" charset="-122"/>
                <a:cs typeface="Cambria" pitchFamily="34" charset="-120"/>
              </a:rPr>
              <a:t>Densité de population et implantation des agences</a:t>
            </a:r>
            <a:endParaRPr lang="en-US" sz="2800" dirty="0"/>
          </a:p>
        </p:txBody>
      </p:sp>
      <p:pic>
        <p:nvPicPr>
          <p:cNvPr id="4" name="Image 0" descr="/home/claude/extracted/Togo_Digital_Access/presentation/assets/carte_densite_agences.png">    </p:cNvPr>
          <p:cNvPicPr>
            <a:picLocks noChangeAspect="1"/>
          </p:cNvPicPr>
          <p:nvPr/>
        </p:nvPicPr>
        <p:blipFill>
          <a:blip r:embed="rId1"/>
          <a:stretch>
            <a:fillRect/>
          </a:stretch>
        </p:blipFill>
        <p:spPr>
          <a:xfrm>
            <a:off x="457200" y="1417320"/>
            <a:ext cx="5120640" cy="5074920"/>
          </a:xfrm>
          <a:prstGeom prst="rect">
            <a:avLst/>
          </a:prstGeom>
        </p:spPr>
      </p:pic>
      <p:sp>
        <p:nvSpPr>
          <p:cNvPr id="5" name="Shape 2"/>
          <p:cNvSpPr/>
          <p:nvPr/>
        </p:nvSpPr>
        <p:spPr>
          <a:xfrm>
            <a:off x="5943600" y="1600200"/>
            <a:ext cx="5760720" cy="1005840"/>
          </a:xfrm>
          <a:prstGeom prst="roundRect">
            <a:avLst>
              <a:gd name="adj" fmla="val 7273"/>
            </a:avLst>
          </a:prstGeom>
          <a:solidFill>
            <a:srgbClr val="FFFFFF"/>
          </a:solidFill>
          <a:ln w="12700">
            <a:solidFill>
              <a:srgbClr val="E3E8F0"/>
            </a:solidFill>
            <a:prstDash val="solid"/>
          </a:ln>
        </p:spPr>
      </p:sp>
      <p:sp>
        <p:nvSpPr>
          <p:cNvPr id="6" name="Text 3"/>
          <p:cNvSpPr/>
          <p:nvPr/>
        </p:nvSpPr>
        <p:spPr>
          <a:xfrm>
            <a:off x="6172200" y="1709928"/>
            <a:ext cx="2011680" cy="777240"/>
          </a:xfrm>
          <a:prstGeom prst="rect">
            <a:avLst/>
          </a:prstGeom>
          <a:noFill/>
          <a:ln/>
        </p:spPr>
        <p:txBody>
          <a:bodyPr wrap="square" rtlCol="0" anchor="ctr"/>
          <a:lstStyle/>
          <a:p>
            <a:pPr indent="0" marL="0">
              <a:buNone/>
            </a:pPr>
            <a:r>
              <a:rPr lang="en-US" sz="2600" b="1" dirty="0">
                <a:solidFill>
                  <a:srgbClr val="F7931E"/>
                </a:solidFill>
                <a:latin typeface="Cambria" pitchFamily="34" charset="0"/>
                <a:ea typeface="Cambria" pitchFamily="34" charset="-122"/>
                <a:cs typeface="Cambria" pitchFamily="34" charset="-120"/>
              </a:rPr>
              <a:t>90</a:t>
            </a:r>
            <a:endParaRPr lang="en-US" sz="2600" dirty="0"/>
          </a:p>
        </p:txBody>
      </p:sp>
      <p:sp>
        <p:nvSpPr>
          <p:cNvPr id="7" name="Text 4"/>
          <p:cNvSpPr/>
          <p:nvPr/>
        </p:nvSpPr>
        <p:spPr>
          <a:xfrm>
            <a:off x="8229600" y="1709928"/>
            <a:ext cx="3291840" cy="777240"/>
          </a:xfrm>
          <a:prstGeom prst="rect">
            <a:avLst/>
          </a:prstGeom>
          <a:noFill/>
          <a:ln/>
        </p:spPr>
        <p:txBody>
          <a:bodyPr wrap="square" rtlCol="0" anchor="ctr"/>
          <a:lstStyle/>
          <a:p>
            <a:pPr indent="0" marL="0">
              <a:buNone/>
            </a:pPr>
            <a:r>
              <a:rPr lang="en-US" sz="1300" dirty="0">
                <a:solidFill>
                  <a:srgbClr val="1B2436"/>
                </a:solidFill>
              </a:rPr>
              <a:t>agences télécoms (Moov+Togocom)</a:t>
            </a:r>
            <a:endParaRPr lang="en-US" sz="1300" dirty="0"/>
          </a:p>
        </p:txBody>
      </p:sp>
      <p:sp>
        <p:nvSpPr>
          <p:cNvPr id="8" name="Shape 5"/>
          <p:cNvSpPr/>
          <p:nvPr/>
        </p:nvSpPr>
        <p:spPr>
          <a:xfrm>
            <a:off x="5943600" y="2788920"/>
            <a:ext cx="5760720" cy="1005840"/>
          </a:xfrm>
          <a:prstGeom prst="roundRect">
            <a:avLst>
              <a:gd name="adj" fmla="val 7273"/>
            </a:avLst>
          </a:prstGeom>
          <a:solidFill>
            <a:srgbClr val="FFFFFF"/>
          </a:solidFill>
          <a:ln w="12700">
            <a:solidFill>
              <a:srgbClr val="E3E8F0"/>
            </a:solidFill>
            <a:prstDash val="solid"/>
          </a:ln>
        </p:spPr>
      </p:sp>
      <p:sp>
        <p:nvSpPr>
          <p:cNvPr id="9" name="Text 6"/>
          <p:cNvSpPr/>
          <p:nvPr/>
        </p:nvSpPr>
        <p:spPr>
          <a:xfrm>
            <a:off x="6172200" y="2898648"/>
            <a:ext cx="2011680" cy="777240"/>
          </a:xfrm>
          <a:prstGeom prst="rect">
            <a:avLst/>
          </a:prstGeom>
          <a:noFill/>
          <a:ln/>
        </p:spPr>
        <p:txBody>
          <a:bodyPr wrap="square" rtlCol="0" anchor="ctr"/>
          <a:lstStyle/>
          <a:p>
            <a:pPr indent="0" marL="0">
              <a:buNone/>
            </a:pPr>
            <a:r>
              <a:rPr lang="en-US" sz="2600" b="1" dirty="0">
                <a:solidFill>
                  <a:srgbClr val="1C7293"/>
                </a:solidFill>
                <a:latin typeface="Cambria" pitchFamily="34" charset="0"/>
                <a:ea typeface="Cambria" pitchFamily="34" charset="-122"/>
                <a:cs typeface="Cambria" pitchFamily="34" charset="-120"/>
              </a:rPr>
              <a:t>3</a:t>
            </a:r>
            <a:endParaRPr lang="en-US" sz="2600" dirty="0"/>
          </a:p>
        </p:txBody>
      </p:sp>
      <p:sp>
        <p:nvSpPr>
          <p:cNvPr id="10" name="Text 7"/>
          <p:cNvSpPr/>
          <p:nvPr/>
        </p:nvSpPr>
        <p:spPr>
          <a:xfrm>
            <a:off x="8229600" y="2898648"/>
            <a:ext cx="3291840" cy="777240"/>
          </a:xfrm>
          <a:prstGeom prst="rect">
            <a:avLst/>
          </a:prstGeom>
          <a:noFill/>
          <a:ln/>
        </p:spPr>
        <p:txBody>
          <a:bodyPr wrap="square" rtlCol="0" anchor="ctr"/>
          <a:lstStyle/>
          <a:p>
            <a:pPr indent="0" marL="0">
              <a:buNone/>
            </a:pPr>
            <a:r>
              <a:rPr lang="en-US" sz="1300" dirty="0">
                <a:solidFill>
                  <a:srgbClr val="1B2436"/>
                </a:solidFill>
              </a:rPr>
              <a:t>datacenters (tous en région Maritime)</a:t>
            </a:r>
            <a:endParaRPr lang="en-US" sz="1300" dirty="0"/>
          </a:p>
        </p:txBody>
      </p:sp>
      <p:sp>
        <p:nvSpPr>
          <p:cNvPr id="11" name="Shape 8"/>
          <p:cNvSpPr/>
          <p:nvPr/>
        </p:nvSpPr>
        <p:spPr>
          <a:xfrm>
            <a:off x="5943600" y="3977640"/>
            <a:ext cx="5760720" cy="1005840"/>
          </a:xfrm>
          <a:prstGeom prst="roundRect">
            <a:avLst>
              <a:gd name="adj" fmla="val 7273"/>
            </a:avLst>
          </a:prstGeom>
          <a:solidFill>
            <a:srgbClr val="FFFFFF"/>
          </a:solidFill>
          <a:ln w="12700">
            <a:solidFill>
              <a:srgbClr val="E3E8F0"/>
            </a:solidFill>
            <a:prstDash val="solid"/>
          </a:ln>
        </p:spPr>
      </p:sp>
      <p:sp>
        <p:nvSpPr>
          <p:cNvPr id="12" name="Text 9"/>
          <p:cNvSpPr/>
          <p:nvPr/>
        </p:nvSpPr>
        <p:spPr>
          <a:xfrm>
            <a:off x="6172200" y="4087368"/>
            <a:ext cx="2011680" cy="777240"/>
          </a:xfrm>
          <a:prstGeom prst="rect">
            <a:avLst/>
          </a:prstGeom>
          <a:noFill/>
          <a:ln/>
        </p:spPr>
        <p:txBody>
          <a:bodyPr wrap="square" rtlCol="0" anchor="ctr"/>
          <a:lstStyle/>
          <a:p>
            <a:pPr indent="0" marL="0">
              <a:buNone/>
            </a:pPr>
            <a:r>
              <a:rPr lang="en-US" sz="2600" b="1" dirty="0">
                <a:solidFill>
                  <a:srgbClr val="0072CE"/>
                </a:solidFill>
                <a:latin typeface="Cambria" pitchFamily="34" charset="0"/>
                <a:ea typeface="Cambria" pitchFamily="34" charset="-122"/>
                <a:cs typeface="Cambria" pitchFamily="34" charset="-120"/>
              </a:rPr>
              <a:t>9 568 508</a:t>
            </a:r>
            <a:endParaRPr lang="en-US" sz="2600" dirty="0"/>
          </a:p>
        </p:txBody>
      </p:sp>
      <p:sp>
        <p:nvSpPr>
          <p:cNvPr id="13" name="Text 10"/>
          <p:cNvSpPr/>
          <p:nvPr/>
        </p:nvSpPr>
        <p:spPr>
          <a:xfrm>
            <a:off x="8229600" y="4087368"/>
            <a:ext cx="3291840" cy="777240"/>
          </a:xfrm>
          <a:prstGeom prst="rect">
            <a:avLst/>
          </a:prstGeom>
          <a:noFill/>
          <a:ln/>
        </p:spPr>
        <p:txBody>
          <a:bodyPr wrap="square" rtlCol="0" anchor="ctr"/>
          <a:lstStyle/>
          <a:p>
            <a:pPr indent="0" marL="0">
              <a:buNone/>
            </a:pPr>
            <a:r>
              <a:rPr lang="en-US" sz="1300" dirty="0">
                <a:solidFill>
                  <a:srgbClr val="1B2436"/>
                </a:solidFill>
              </a:rPr>
              <a:t>habitants estimés (WorldPop 2020)</a:t>
            </a:r>
            <a:endParaRPr lang="en-US" sz="1300" dirty="0"/>
          </a:p>
        </p:txBody>
      </p:sp>
      <p:sp>
        <p:nvSpPr>
          <p:cNvPr id="14" name="Text 11"/>
          <p:cNvSpPr/>
          <p:nvPr/>
        </p:nvSpPr>
        <p:spPr>
          <a:xfrm>
            <a:off x="5943600" y="5303520"/>
            <a:ext cx="5760720" cy="1463040"/>
          </a:xfrm>
          <a:prstGeom prst="rect">
            <a:avLst/>
          </a:prstGeom>
          <a:noFill/>
          <a:ln/>
        </p:spPr>
        <p:txBody>
          <a:bodyPr wrap="square" rtlCol="0" anchor="ctr"/>
          <a:lstStyle/>
          <a:p>
            <a:pPr indent="0" marL="0">
              <a:lnSpc>
                <a:spcPct val="125000"/>
              </a:lnSpc>
              <a:buNone/>
            </a:pPr>
            <a:r>
              <a:rPr lang="en-US" sz="1250" i="1" dirty="0">
                <a:solidFill>
                  <a:srgbClr val="6B7893"/>
                </a:solidFill>
              </a:rPr>
              <a:t>Constat : l'infrastructure physique (agences, 100% des datacenters) se concentre autour de Lomé, la zone la plus densément peuplée. Le reste du territoire — surtout le Nord — reste faiblement équipé.</a:t>
            </a:r>
            <a:endParaRPr lang="en-US" sz="1250" dirty="0"/>
          </a:p>
        </p:txBody>
      </p:sp>
      <p:sp>
        <p:nvSpPr>
          <p:cNvPr id="15" name="Text 12"/>
          <p:cNvSpPr/>
          <p:nvPr/>
        </p:nvSpPr>
        <p:spPr>
          <a:xfrm>
            <a:off x="457200" y="6537960"/>
            <a:ext cx="7315200" cy="274320"/>
          </a:xfrm>
          <a:prstGeom prst="rect">
            <a:avLst/>
          </a:prstGeom>
          <a:noFill/>
          <a:ln/>
        </p:spPr>
        <p:txBody>
          <a:bodyPr wrap="square" rtlCol="0" anchor="ctr"/>
          <a:lstStyle/>
          <a:p>
            <a:pPr indent="0" marL="0">
              <a:buNone/>
            </a:pPr>
            <a:r>
              <a:rPr lang="en-US" sz="900" dirty="0">
                <a:solidFill>
                  <a:srgbClr val="6B7893"/>
                </a:solidFill>
              </a:rPr>
              <a:t>Togo Digital Access — Diagnostic télécoms &amp; inclusion numérique</a:t>
            </a:r>
            <a:endParaRPr lang="en-US" sz="900" dirty="0"/>
          </a:p>
        </p:txBody>
      </p:sp>
      <p:sp>
        <p:nvSpPr>
          <p:cNvPr id="16" name="Text 13"/>
          <p:cNvSpPr/>
          <p:nvPr/>
        </p:nvSpPr>
        <p:spPr>
          <a:xfrm>
            <a:off x="11338560" y="6537960"/>
            <a:ext cx="548640" cy="274320"/>
          </a:xfrm>
          <a:prstGeom prst="rect">
            <a:avLst/>
          </a:prstGeom>
          <a:noFill/>
          <a:ln/>
        </p:spPr>
        <p:txBody>
          <a:bodyPr wrap="square" rtlCol="0" anchor="ctr"/>
          <a:lstStyle/>
          <a:p>
            <a:pPr algn="r" indent="0" marL="0">
              <a:buNone/>
            </a:pPr>
            <a:r>
              <a:rPr lang="en-US" sz="900" dirty="0">
                <a:solidFill>
                  <a:srgbClr val="6B7893"/>
                </a:solidFill>
              </a:rPr>
              <a:t>3 / 10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457200" y="320040"/>
            <a:ext cx="7315200" cy="274320"/>
          </a:xfrm>
          <a:prstGeom prst="rect">
            <a:avLst/>
          </a:prstGeom>
          <a:noFill/>
          <a:ln/>
        </p:spPr>
        <p:txBody>
          <a:bodyPr wrap="square" rtlCol="0" anchor="ctr"/>
          <a:lstStyle/>
          <a:p>
            <a:pPr indent="0" marL="0">
              <a:buNone/>
            </a:pPr>
            <a:r>
              <a:rPr lang="en-US" sz="1200" b="1" spc="200" kern="0" dirty="0">
                <a:solidFill>
                  <a:srgbClr val="F7931E"/>
                </a:solidFill>
              </a:rPr>
              <a:t>MÉTHODOLOGIE</a:t>
            </a:r>
            <a:endParaRPr lang="en-US" sz="1200" dirty="0"/>
          </a:p>
        </p:txBody>
      </p:sp>
      <p:sp>
        <p:nvSpPr>
          <p:cNvPr id="3" name="Text 1"/>
          <p:cNvSpPr/>
          <p:nvPr/>
        </p:nvSpPr>
        <p:spPr>
          <a:xfrm>
            <a:off x="457200" y="566928"/>
            <a:ext cx="11247120" cy="640080"/>
          </a:xfrm>
          <a:prstGeom prst="rect">
            <a:avLst/>
          </a:prstGeom>
          <a:noFill/>
          <a:ln/>
        </p:spPr>
        <p:txBody>
          <a:bodyPr wrap="square" rtlCol="0" anchor="ctr"/>
          <a:lstStyle/>
          <a:p>
            <a:pPr indent="0" marL="0">
              <a:buNone/>
            </a:pPr>
            <a:r>
              <a:rPr lang="en-US" sz="2800" b="1" dirty="0">
                <a:solidFill>
                  <a:srgbClr val="1B2436"/>
                </a:solidFill>
                <a:latin typeface="Cambria" pitchFamily="34" charset="0"/>
                <a:ea typeface="Cambria" pitchFamily="34" charset="-122"/>
                <a:cs typeface="Cambria" pitchFamily="34" charset="-120"/>
              </a:rPr>
              <a:t>Un score de priorité territoriale par préfecture</a:t>
            </a:r>
            <a:endParaRPr lang="en-US" sz="2800" dirty="0"/>
          </a:p>
        </p:txBody>
      </p:sp>
      <p:pic>
        <p:nvPicPr>
          <p:cNvPr id="4" name="Image 0" descr="/home/claude/extracted/Togo_Digital_Access/presentation/assets/carte_priorite.png">    </p:cNvPr>
          <p:cNvPicPr>
            <a:picLocks noChangeAspect="1"/>
          </p:cNvPicPr>
          <p:nvPr/>
        </p:nvPicPr>
        <p:blipFill>
          <a:blip r:embed="rId1"/>
          <a:stretch>
            <a:fillRect/>
          </a:stretch>
        </p:blipFill>
        <p:spPr>
          <a:xfrm>
            <a:off x="457200" y="1417320"/>
            <a:ext cx="4846320" cy="5074920"/>
          </a:xfrm>
          <a:prstGeom prst="rect">
            <a:avLst/>
          </a:prstGeom>
        </p:spPr>
      </p:pic>
      <p:sp>
        <p:nvSpPr>
          <p:cNvPr id="5" name="Shape 2"/>
          <p:cNvSpPr/>
          <p:nvPr/>
        </p:nvSpPr>
        <p:spPr>
          <a:xfrm>
            <a:off x="5577840" y="1463040"/>
            <a:ext cx="6126480" cy="2834640"/>
          </a:xfrm>
          <a:prstGeom prst="roundRect">
            <a:avLst>
              <a:gd name="adj" fmla="val 3226"/>
            </a:avLst>
          </a:prstGeom>
          <a:solidFill>
            <a:srgbClr val="FFFFFF"/>
          </a:solidFill>
          <a:ln w="12700">
            <a:solidFill>
              <a:srgbClr val="E3E8F0"/>
            </a:solidFill>
            <a:prstDash val="solid"/>
          </a:ln>
        </p:spPr>
      </p:sp>
      <p:sp>
        <p:nvSpPr>
          <p:cNvPr id="6" name="Text 3"/>
          <p:cNvSpPr/>
          <p:nvPr/>
        </p:nvSpPr>
        <p:spPr>
          <a:xfrm>
            <a:off x="5852160" y="1645920"/>
            <a:ext cx="5486400" cy="320040"/>
          </a:xfrm>
          <a:prstGeom prst="rect">
            <a:avLst/>
          </a:prstGeom>
          <a:noFill/>
          <a:ln/>
        </p:spPr>
        <p:txBody>
          <a:bodyPr wrap="square" rtlCol="0" anchor="ctr"/>
          <a:lstStyle/>
          <a:p>
            <a:pPr indent="0" marL="0">
              <a:buNone/>
            </a:pPr>
            <a:r>
              <a:rPr lang="en-US" sz="1400" b="1" dirty="0">
                <a:solidFill>
                  <a:srgbClr val="1B2436"/>
                </a:solidFill>
              </a:rPr>
              <a:t>Formule du score</a:t>
            </a:r>
            <a:endParaRPr lang="en-US" sz="1400" dirty="0"/>
          </a:p>
        </p:txBody>
      </p:sp>
      <p:sp>
        <p:nvSpPr>
          <p:cNvPr id="7" name="Text 4"/>
          <p:cNvSpPr/>
          <p:nvPr/>
        </p:nvSpPr>
        <p:spPr>
          <a:xfrm>
            <a:off x="5852160" y="2057400"/>
            <a:ext cx="5486400" cy="1005840"/>
          </a:xfrm>
          <a:prstGeom prst="rect">
            <a:avLst/>
          </a:prstGeom>
          <a:noFill/>
          <a:ln/>
        </p:spPr>
        <p:txBody>
          <a:bodyPr wrap="square" rtlCol="0" anchor="ctr"/>
          <a:lstStyle/>
          <a:p>
            <a:pPr indent="0" marL="0">
              <a:buNone/>
            </a:pPr>
            <a:r>
              <a:rPr lang="en-US" sz="1400" dirty="0">
                <a:solidFill>
                  <a:srgbClr val="1C7293"/>
                </a:solidFill>
                <a:latin typeface="Courier New" pitchFamily="34" charset="0"/>
                <a:ea typeface="Courier New" pitchFamily="34" charset="-122"/>
                <a:cs typeface="Courier New" pitchFamily="34" charset="-120"/>
              </a:rPr>
              <a:t>Score = 0,40 × Population</a:t>
            </a:r>
            <a:endParaRPr lang="en-US" sz="1400" dirty="0"/>
          </a:p>
          <a:p>
            <a:pPr indent="0" marL="0">
              <a:buNone/>
            </a:pPr>
            <a:r>
              <a:rPr lang="en-US" sz="1400" dirty="0">
                <a:solidFill>
                  <a:srgbClr val="1C7293"/>
                </a:solidFill>
                <a:latin typeface="Courier New" pitchFamily="34" charset="0"/>
                <a:ea typeface="Courier New" pitchFamily="34" charset="-122"/>
                <a:cs typeface="Courier New" pitchFamily="34" charset="-120"/>
              </a:rPr>
              <a:t>         + 0,40 × Déficit Mobile Money</a:t>
            </a:r>
            <a:endParaRPr lang="en-US" sz="1400" dirty="0"/>
          </a:p>
          <a:p>
            <a:pPr indent="0" marL="0">
              <a:buNone/>
            </a:pPr>
            <a:r>
              <a:rPr lang="en-US" sz="1400" dirty="0">
                <a:solidFill>
                  <a:srgbClr val="1C7293"/>
                </a:solidFill>
                <a:latin typeface="Courier New" pitchFamily="34" charset="0"/>
                <a:ea typeface="Courier New" pitchFamily="34" charset="-122"/>
                <a:cs typeface="Courier New" pitchFamily="34" charset="-120"/>
              </a:rPr>
              <a:t>         + 0,20 × Déficit Antennes</a:t>
            </a:r>
            <a:endParaRPr lang="en-US" sz="1400" dirty="0"/>
          </a:p>
        </p:txBody>
      </p:sp>
      <p:sp>
        <p:nvSpPr>
          <p:cNvPr id="8" name="Text 5"/>
          <p:cNvSpPr/>
          <p:nvPr/>
        </p:nvSpPr>
        <p:spPr>
          <a:xfrm>
            <a:off x="5852160" y="3063240"/>
            <a:ext cx="5486400" cy="1188720"/>
          </a:xfrm>
          <a:prstGeom prst="rect">
            <a:avLst/>
          </a:prstGeom>
          <a:noFill/>
          <a:ln/>
        </p:spPr>
        <p:txBody>
          <a:bodyPr wrap="square" rtlCol="0" anchor="ctr"/>
          <a:lstStyle/>
          <a:p>
            <a:pPr indent="0" marL="0">
              <a:lnSpc>
                <a:spcPct val="125000"/>
              </a:lnSpc>
              <a:buNone/>
            </a:pPr>
            <a:r>
              <a:rPr lang="en-US" sz="1150" dirty="0">
                <a:solidFill>
                  <a:srgbClr val="6B7893"/>
                </a:solidFill>
              </a:rPr>
              <a:t>Indicateurs normalisés (0–1) puis combinés. Population : log1p + normalisation directe. Déficits Mobile Money / Antennes : normalisation inverse (moins de service = score plus élevé).</a:t>
            </a:r>
            <a:endParaRPr lang="en-US" sz="1150" dirty="0"/>
          </a:p>
        </p:txBody>
      </p:sp>
      <p:sp>
        <p:nvSpPr>
          <p:cNvPr id="9" name="Text 6"/>
          <p:cNvSpPr/>
          <p:nvPr/>
        </p:nvSpPr>
        <p:spPr>
          <a:xfrm>
            <a:off x="5852160" y="4434840"/>
            <a:ext cx="5486400" cy="365760"/>
          </a:xfrm>
          <a:prstGeom prst="rect">
            <a:avLst/>
          </a:prstGeom>
          <a:noFill/>
          <a:ln/>
        </p:spPr>
        <p:txBody>
          <a:bodyPr wrap="square" rtlCol="0" anchor="ctr"/>
          <a:lstStyle/>
          <a:p>
            <a:pPr indent="0" marL="0">
              <a:buNone/>
            </a:pPr>
            <a:r>
              <a:rPr lang="en-US" sz="1300" dirty="0">
                <a:solidFill>
                  <a:srgbClr val="1B2436"/>
                </a:solidFill>
              </a:rPr>
              <a:t>🔴 Forte : 21 préfectures / 37</a:t>
            </a:r>
            <a:endParaRPr lang="en-US" sz="1300" dirty="0"/>
          </a:p>
        </p:txBody>
      </p:sp>
      <p:sp>
        <p:nvSpPr>
          <p:cNvPr id="10" name="Text 7"/>
          <p:cNvSpPr/>
          <p:nvPr/>
        </p:nvSpPr>
        <p:spPr>
          <a:xfrm>
            <a:off x="5852160" y="4846320"/>
            <a:ext cx="5486400" cy="365760"/>
          </a:xfrm>
          <a:prstGeom prst="rect">
            <a:avLst/>
          </a:prstGeom>
          <a:noFill/>
          <a:ln/>
        </p:spPr>
        <p:txBody>
          <a:bodyPr wrap="square" rtlCol="0" anchor="ctr"/>
          <a:lstStyle/>
          <a:p>
            <a:pPr indent="0" marL="0">
              <a:buNone/>
            </a:pPr>
            <a:r>
              <a:rPr lang="en-US" sz="1300" dirty="0">
                <a:solidFill>
                  <a:srgbClr val="1B2436"/>
                </a:solidFill>
              </a:rPr>
              <a:t>🟠 Moyenne : 16 préfectures / 37</a:t>
            </a:r>
            <a:endParaRPr lang="en-US" sz="1300" dirty="0"/>
          </a:p>
        </p:txBody>
      </p:sp>
      <p:sp>
        <p:nvSpPr>
          <p:cNvPr id="11" name="Text 8"/>
          <p:cNvSpPr/>
          <p:nvPr/>
        </p:nvSpPr>
        <p:spPr>
          <a:xfrm>
            <a:off x="5852160" y="5257800"/>
            <a:ext cx="5486400" cy="365760"/>
          </a:xfrm>
          <a:prstGeom prst="rect">
            <a:avLst/>
          </a:prstGeom>
          <a:noFill/>
          <a:ln/>
        </p:spPr>
        <p:txBody>
          <a:bodyPr wrap="square" rtlCol="0" anchor="ctr"/>
          <a:lstStyle/>
          <a:p>
            <a:pPr indent="0" marL="0">
              <a:buNone/>
            </a:pPr>
            <a:r>
              <a:rPr lang="en-US" sz="1300" dirty="0">
                <a:solidFill>
                  <a:srgbClr val="1B2436"/>
                </a:solidFill>
              </a:rPr>
              <a:t>🟢 Faible : 0 préfectures / 37</a:t>
            </a:r>
            <a:endParaRPr lang="en-US" sz="1300" dirty="0"/>
          </a:p>
        </p:txBody>
      </p:sp>
      <p:sp>
        <p:nvSpPr>
          <p:cNvPr id="12" name="Text 9"/>
          <p:cNvSpPr/>
          <p:nvPr/>
        </p:nvSpPr>
        <p:spPr>
          <a:xfrm>
            <a:off x="457200" y="6537960"/>
            <a:ext cx="7315200" cy="274320"/>
          </a:xfrm>
          <a:prstGeom prst="rect">
            <a:avLst/>
          </a:prstGeom>
          <a:noFill/>
          <a:ln/>
        </p:spPr>
        <p:txBody>
          <a:bodyPr wrap="square" rtlCol="0" anchor="ctr"/>
          <a:lstStyle/>
          <a:p>
            <a:pPr indent="0" marL="0">
              <a:buNone/>
            </a:pPr>
            <a:r>
              <a:rPr lang="en-US" sz="900" dirty="0">
                <a:solidFill>
                  <a:srgbClr val="6B7893"/>
                </a:solidFill>
              </a:rPr>
              <a:t>Togo Digital Access — Diagnostic télécoms &amp; inclusion numérique</a:t>
            </a:r>
            <a:endParaRPr lang="en-US" sz="900" dirty="0"/>
          </a:p>
        </p:txBody>
      </p:sp>
      <p:sp>
        <p:nvSpPr>
          <p:cNvPr id="13" name="Text 10"/>
          <p:cNvSpPr/>
          <p:nvPr/>
        </p:nvSpPr>
        <p:spPr>
          <a:xfrm>
            <a:off x="11338560" y="6537960"/>
            <a:ext cx="548640" cy="274320"/>
          </a:xfrm>
          <a:prstGeom prst="rect">
            <a:avLst/>
          </a:prstGeom>
          <a:noFill/>
          <a:ln/>
        </p:spPr>
        <p:txBody>
          <a:bodyPr wrap="square" rtlCol="0" anchor="ctr"/>
          <a:lstStyle/>
          <a:p>
            <a:pPr algn="r" indent="0" marL="0">
              <a:buNone/>
            </a:pPr>
            <a:r>
              <a:rPr lang="en-US" sz="900" dirty="0">
                <a:solidFill>
                  <a:srgbClr val="6B7893"/>
                </a:solidFill>
              </a:rPr>
              <a:t>4 / 10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457200" y="320040"/>
            <a:ext cx="7315200" cy="274320"/>
          </a:xfrm>
          <a:prstGeom prst="rect">
            <a:avLst/>
          </a:prstGeom>
          <a:noFill/>
          <a:ln/>
        </p:spPr>
        <p:txBody>
          <a:bodyPr wrap="square" rtlCol="0" anchor="ctr"/>
          <a:lstStyle/>
          <a:p>
            <a:pPr indent="0" marL="0">
              <a:buNone/>
            </a:pPr>
            <a:r>
              <a:rPr lang="en-US" sz="1200" b="1" spc="200" kern="0" dirty="0">
                <a:solidFill>
                  <a:srgbClr val="F7931E"/>
                </a:solidFill>
              </a:rPr>
              <a:t>RÉSULTATS</a:t>
            </a:r>
            <a:endParaRPr lang="en-US" sz="1200" dirty="0"/>
          </a:p>
        </p:txBody>
      </p:sp>
      <p:sp>
        <p:nvSpPr>
          <p:cNvPr id="3" name="Text 1"/>
          <p:cNvSpPr/>
          <p:nvPr/>
        </p:nvSpPr>
        <p:spPr>
          <a:xfrm>
            <a:off x="457200" y="566928"/>
            <a:ext cx="11247120" cy="640080"/>
          </a:xfrm>
          <a:prstGeom prst="rect">
            <a:avLst/>
          </a:prstGeom>
          <a:noFill/>
          <a:ln/>
        </p:spPr>
        <p:txBody>
          <a:bodyPr wrap="square" rtlCol="0" anchor="ctr"/>
          <a:lstStyle/>
          <a:p>
            <a:pPr indent="0" marL="0">
              <a:buNone/>
            </a:pPr>
            <a:r>
              <a:rPr lang="en-US" sz="2800" b="1" dirty="0">
                <a:solidFill>
                  <a:srgbClr val="1B2436"/>
                </a:solidFill>
                <a:latin typeface="Cambria" pitchFamily="34" charset="0"/>
                <a:ea typeface="Cambria" pitchFamily="34" charset="-122"/>
                <a:cs typeface="Cambria" pitchFamily="34" charset="-120"/>
              </a:rPr>
              <a:t>Top 10 des préfectures prioritaires</a:t>
            </a:r>
            <a:endParaRPr lang="en-US" sz="2800" dirty="0"/>
          </a:p>
        </p:txBody>
      </p:sp>
      <p:pic>
        <p:nvPicPr>
          <p:cNvPr id="4" name="Image 0" descr="/home/claude/extracted/Togo_Digital_Access/presentation/assets/bar_top10_priorite.png">    </p:cNvPr>
          <p:cNvPicPr>
            <a:picLocks noChangeAspect="1"/>
          </p:cNvPicPr>
          <p:nvPr/>
        </p:nvPicPr>
        <p:blipFill>
          <a:blip r:embed="rId1"/>
          <a:stretch>
            <a:fillRect/>
          </a:stretch>
        </p:blipFill>
        <p:spPr>
          <a:xfrm>
            <a:off x="457200" y="1417320"/>
            <a:ext cx="5760720" cy="4937760"/>
          </a:xfrm>
          <a:prstGeom prst="rect">
            <a:avLst/>
          </a:prstGeom>
        </p:spPr>
      </p:pic>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309360" y="1417320"/>
          <a:ext cx="5394960" cy="4937760"/>
        </p:xfrm>
        <a:graphic>
          <a:graphicData uri="http://schemas.openxmlformats.org/drawingml/2006/table">
            <a:tbl>
              <a:tblPr/>
              <a:tblGrid>
                <a:gridCol w="1554480"/>
                <a:gridCol w="1005840"/>
                <a:gridCol w="1097280"/>
                <a:gridCol w="1005840"/>
                <a:gridCol w="731520"/>
              </a:tblGrid>
              <a:tr h="448887">
                <a:tc>
                  <a:txBody>
                    <a:bodyPr/>
                    <a:lstStyle/>
                    <a:p>
                      <a:pPr indent="0" marL="0">
                        <a:buNone/>
                      </a:pPr>
                      <a:r>
                        <a:rPr lang="en-US" sz="1000" b="1" dirty="0">
                          <a:solidFill>
                            <a:srgbClr val="FFFFFF"/>
                          </a:solidFill>
                        </a:rPr>
                        <a:t>Préfecture</a:t>
                      </a:r>
                      <a:endParaRPr lang="en-US" sz="1000" dirty="0"/>
                    </a:p>
                  </a:txBody>
                  <a:tcPr marL="91440" marR="91440" marT="45720" marB="45720">
                    <a:lnL w="6350" cap="flat" cmpd="sng" algn="ctr">
                      <a:solidFill>
                        <a:srgbClr val="E3E8F0"/>
                      </a:solidFill>
                      <a:prstDash val="solid"/>
                      <a:round/>
                      <a:headEnd type="none" w="med" len="med"/>
                      <a:tailEnd type="none" w="med" len="med"/>
                    </a:lnL>
                    <a:lnR w="6350" cap="flat" cmpd="sng" algn="ctr">
                      <a:solidFill>
                        <a:srgbClr val="E3E8F0"/>
                      </a:solidFill>
                      <a:prstDash val="solid"/>
                      <a:round/>
                      <a:headEnd type="none" w="med" len="med"/>
                      <a:tailEnd type="none" w="med" len="med"/>
                    </a:lnR>
                    <a:lnT w="6350" cap="flat" cmpd="sng" algn="ctr">
                      <a:solidFill>
                        <a:srgbClr val="E3E8F0"/>
                      </a:solidFill>
                      <a:prstDash val="solid"/>
                      <a:round/>
                      <a:headEnd type="none" w="med" len="med"/>
                      <a:tailEnd type="none" w="med" len="med"/>
                    </a:lnT>
                    <a:lnB w="6350" cap="flat" cmpd="sng" algn="ctr">
                      <a:solidFill>
                        <a:srgbClr val="E3E8F0"/>
                      </a:solidFill>
                      <a:prstDash val="solid"/>
                      <a:round/>
                      <a:headEnd type="none" w="med" len="med"/>
                      <a:tailEnd type="none" w="med" len="med"/>
                    </a:lnB>
                    <a:solidFill>
                      <a:srgbClr val="C0392B"/>
                    </a:solidFill>
                  </a:tcPr>
                </a:tc>
                <a:tc>
                  <a:txBody>
                    <a:bodyPr/>
                    <a:lstStyle/>
                    <a:p>
                      <a:pPr algn="r" indent="0" marL="0">
                        <a:buNone/>
                      </a:pPr>
                      <a:r>
                        <a:rPr lang="en-US" sz="1000" b="1" dirty="0">
                          <a:solidFill>
                            <a:srgbClr val="FFFFFF"/>
                          </a:solidFill>
                        </a:rPr>
                        <a:t>Pop.</a:t>
                      </a:r>
                      <a:endParaRPr lang="en-US" sz="1000" dirty="0"/>
                    </a:p>
                  </a:txBody>
                  <a:tcPr marL="91440" marR="91440" marT="45720" marB="45720">
                    <a:lnL w="6350" cap="flat" cmpd="sng" algn="ctr">
                      <a:solidFill>
                        <a:srgbClr val="E3E8F0"/>
                      </a:solidFill>
                      <a:prstDash val="solid"/>
                      <a:round/>
                      <a:headEnd type="none" w="med" len="med"/>
                      <a:tailEnd type="none" w="med" len="med"/>
                    </a:lnL>
                    <a:lnR w="6350" cap="flat" cmpd="sng" algn="ctr">
                      <a:solidFill>
                        <a:srgbClr val="E3E8F0"/>
                      </a:solidFill>
                      <a:prstDash val="solid"/>
                      <a:round/>
                      <a:headEnd type="none" w="med" len="med"/>
                      <a:tailEnd type="none" w="med" len="med"/>
                    </a:lnR>
                    <a:lnT w="6350" cap="flat" cmpd="sng" algn="ctr">
                      <a:solidFill>
                        <a:srgbClr val="E3E8F0"/>
                      </a:solidFill>
                      <a:prstDash val="solid"/>
                      <a:round/>
                      <a:headEnd type="none" w="med" len="med"/>
                      <a:tailEnd type="none" w="med" len="med"/>
                    </a:lnT>
                    <a:lnB w="6350" cap="flat" cmpd="sng" algn="ctr">
                      <a:solidFill>
                        <a:srgbClr val="E3E8F0"/>
                      </a:solidFill>
                      <a:prstDash val="solid"/>
                      <a:round/>
                      <a:headEnd type="none" w="med" len="med"/>
                      <a:tailEnd type="none" w="med" len="med"/>
                    </a:lnB>
                    <a:solidFill>
                      <a:srgbClr val="C0392B"/>
                    </a:solidFill>
                  </a:tcPr>
                </a:tc>
                <a:tc>
                  <a:txBody>
                    <a:bodyPr/>
                    <a:lstStyle/>
                    <a:p>
                      <a:pPr algn="r" indent="0" marL="0">
                        <a:buNone/>
                      </a:pPr>
                      <a:r>
                        <a:rPr lang="en-US" sz="1000" b="1" dirty="0">
                          <a:solidFill>
                            <a:srgbClr val="FFFFFF"/>
                          </a:solidFill>
                        </a:rPr>
                        <a:t>Agents MM</a:t>
                      </a:r>
                      <a:endParaRPr lang="en-US" sz="1000" dirty="0"/>
                    </a:p>
                  </a:txBody>
                  <a:tcPr marL="91440" marR="91440" marT="45720" marB="45720">
                    <a:lnL w="6350" cap="flat" cmpd="sng" algn="ctr">
                      <a:solidFill>
                        <a:srgbClr val="E3E8F0"/>
                      </a:solidFill>
                      <a:prstDash val="solid"/>
                      <a:round/>
                      <a:headEnd type="none" w="med" len="med"/>
                      <a:tailEnd type="none" w="med" len="med"/>
                    </a:lnL>
                    <a:lnR w="6350" cap="flat" cmpd="sng" algn="ctr">
                      <a:solidFill>
                        <a:srgbClr val="E3E8F0"/>
                      </a:solidFill>
                      <a:prstDash val="solid"/>
                      <a:round/>
                      <a:headEnd type="none" w="med" len="med"/>
                      <a:tailEnd type="none" w="med" len="med"/>
                    </a:lnR>
                    <a:lnT w="6350" cap="flat" cmpd="sng" algn="ctr">
                      <a:solidFill>
                        <a:srgbClr val="E3E8F0"/>
                      </a:solidFill>
                      <a:prstDash val="solid"/>
                      <a:round/>
                      <a:headEnd type="none" w="med" len="med"/>
                      <a:tailEnd type="none" w="med" len="med"/>
                    </a:lnT>
                    <a:lnB w="6350" cap="flat" cmpd="sng" algn="ctr">
                      <a:solidFill>
                        <a:srgbClr val="E3E8F0"/>
                      </a:solidFill>
                      <a:prstDash val="solid"/>
                      <a:round/>
                      <a:headEnd type="none" w="med" len="med"/>
                      <a:tailEnd type="none" w="med" len="med"/>
                    </a:lnB>
                    <a:solidFill>
                      <a:srgbClr val="C0392B"/>
                    </a:solidFill>
                  </a:tcPr>
                </a:tc>
                <a:tc>
                  <a:txBody>
                    <a:bodyPr/>
                    <a:lstStyle/>
                    <a:p>
                      <a:pPr algn="r" indent="0" marL="0">
                        <a:buNone/>
                      </a:pPr>
                      <a:r>
                        <a:rPr lang="en-US" sz="1000" b="1" dirty="0">
                          <a:solidFill>
                            <a:srgbClr val="FFFFFF"/>
                          </a:solidFill>
                        </a:rPr>
                        <a:t>Antennes</a:t>
                      </a:r>
                      <a:endParaRPr lang="en-US" sz="1000" dirty="0"/>
                    </a:p>
                  </a:txBody>
                  <a:tcPr marL="91440" marR="91440" marT="45720" marB="45720">
                    <a:lnL w="6350" cap="flat" cmpd="sng" algn="ctr">
                      <a:solidFill>
                        <a:srgbClr val="E3E8F0"/>
                      </a:solidFill>
                      <a:prstDash val="solid"/>
                      <a:round/>
                      <a:headEnd type="none" w="med" len="med"/>
                      <a:tailEnd type="none" w="med" len="med"/>
                    </a:lnL>
                    <a:lnR w="6350" cap="flat" cmpd="sng" algn="ctr">
                      <a:solidFill>
                        <a:srgbClr val="E3E8F0"/>
                      </a:solidFill>
                      <a:prstDash val="solid"/>
                      <a:round/>
                      <a:headEnd type="none" w="med" len="med"/>
                      <a:tailEnd type="none" w="med" len="med"/>
                    </a:lnR>
                    <a:lnT w="6350" cap="flat" cmpd="sng" algn="ctr">
                      <a:solidFill>
                        <a:srgbClr val="E3E8F0"/>
                      </a:solidFill>
                      <a:prstDash val="solid"/>
                      <a:round/>
                      <a:headEnd type="none" w="med" len="med"/>
                      <a:tailEnd type="none" w="med" len="med"/>
                    </a:lnT>
                    <a:lnB w="6350" cap="flat" cmpd="sng" algn="ctr">
                      <a:solidFill>
                        <a:srgbClr val="E3E8F0"/>
                      </a:solidFill>
                      <a:prstDash val="solid"/>
                      <a:round/>
                      <a:headEnd type="none" w="med" len="med"/>
                      <a:tailEnd type="none" w="med" len="med"/>
                    </a:lnB>
                    <a:solidFill>
                      <a:srgbClr val="C0392B"/>
                    </a:solidFill>
                  </a:tcPr>
                </a:tc>
                <a:tc>
                  <a:txBody>
                    <a:bodyPr/>
                    <a:lstStyle/>
                    <a:p>
                      <a:pPr algn="r" indent="0" marL="0">
                        <a:buNone/>
                      </a:pPr>
                      <a:r>
                        <a:rPr lang="en-US" sz="1000" b="1" dirty="0">
                          <a:solidFill>
                            <a:srgbClr val="FFFFFF"/>
                          </a:solidFill>
                        </a:rPr>
                        <a:t>Score</a:t>
                      </a:r>
                      <a:endParaRPr lang="en-US" sz="1000" dirty="0"/>
                    </a:p>
                  </a:txBody>
                  <a:tcPr marL="91440" marR="91440" marT="45720" marB="45720">
                    <a:lnL w="6350" cap="flat" cmpd="sng" algn="ctr">
                      <a:solidFill>
                        <a:srgbClr val="E3E8F0"/>
                      </a:solidFill>
                      <a:prstDash val="solid"/>
                      <a:round/>
                      <a:headEnd type="none" w="med" len="med"/>
                      <a:tailEnd type="none" w="med" len="med"/>
                    </a:lnL>
                    <a:lnR w="6350" cap="flat" cmpd="sng" algn="ctr">
                      <a:solidFill>
                        <a:srgbClr val="E3E8F0"/>
                      </a:solidFill>
                      <a:prstDash val="solid"/>
                      <a:round/>
                      <a:headEnd type="none" w="med" len="med"/>
                      <a:tailEnd type="none" w="med" len="med"/>
                    </a:lnR>
                    <a:lnT w="6350" cap="flat" cmpd="sng" algn="ctr">
                      <a:solidFill>
                        <a:srgbClr val="E3E8F0"/>
                      </a:solidFill>
                      <a:prstDash val="solid"/>
                      <a:round/>
                      <a:headEnd type="none" w="med" len="med"/>
                      <a:tailEnd type="none" w="med" len="med"/>
                    </a:lnT>
                    <a:lnB w="6350" cap="flat" cmpd="sng" algn="ctr">
                      <a:solidFill>
                        <a:srgbClr val="E3E8F0"/>
                      </a:solidFill>
                      <a:prstDash val="solid"/>
                      <a:round/>
                      <a:headEnd type="none" w="med" len="med"/>
                      <a:tailEnd type="none" w="med" len="med"/>
                    </a:lnB>
                    <a:solidFill>
                      <a:srgbClr val="C0392B"/>
                    </a:solidFill>
                  </a:tcPr>
                </a:tc>
              </a:tr>
              <a:tr h="448887">
                <a:tc>
                  <a:txBody>
                    <a:bodyPr/>
                    <a:lstStyle/>
                    <a:p>
                      <a:pPr indent="0" marL="0">
                        <a:buNone/>
                      </a:pPr>
                      <a:r>
                        <a:rPr lang="en-US" sz="1000" b="1" dirty="0">
                          <a:solidFill>
                            <a:srgbClr val="1B2436"/>
                          </a:solidFill>
                        </a:rPr>
                        <a:t>Blitta</a:t>
                      </a:r>
                      <a:endParaRPr lang="en-US" sz="1000" dirty="0"/>
                    </a:p>
                  </a:txBody>
                  <a:tcPr marL="91440" marR="91440" marT="45720" marB="45720">
                    <a:lnL w="6350" cap="flat" cmpd="sng" algn="ctr">
                      <a:solidFill>
                        <a:srgbClr val="E3E8F0"/>
                      </a:solidFill>
                      <a:prstDash val="solid"/>
                      <a:round/>
                      <a:headEnd type="none" w="med" len="med"/>
                      <a:tailEnd type="none" w="med" len="med"/>
                    </a:lnL>
                    <a:lnR w="6350" cap="flat" cmpd="sng" algn="ctr">
                      <a:solidFill>
                        <a:srgbClr val="E3E8F0"/>
                      </a:solidFill>
                      <a:prstDash val="solid"/>
                      <a:round/>
                      <a:headEnd type="none" w="med" len="med"/>
                      <a:tailEnd type="none" w="med" len="med"/>
                    </a:lnR>
                    <a:lnT w="6350" cap="flat" cmpd="sng" algn="ctr">
                      <a:solidFill>
                        <a:srgbClr val="E3E8F0"/>
                      </a:solidFill>
                      <a:prstDash val="solid"/>
                      <a:round/>
                      <a:headEnd type="none" w="med" len="med"/>
                      <a:tailEnd type="none" w="med" len="med"/>
                    </a:lnT>
                    <a:lnB w="6350" cap="flat" cmpd="sng" algn="ctr">
                      <a:solidFill>
                        <a:srgbClr val="E3E8F0"/>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B2436"/>
                          </a:solidFill>
                        </a:rPr>
                        <a:t>328 040</a:t>
                      </a:r>
                      <a:endParaRPr lang="en-US" sz="1000" dirty="0"/>
                    </a:p>
                  </a:txBody>
                  <a:tcPr marL="91440" marR="91440" marT="45720" marB="45720">
                    <a:lnL w="6350" cap="flat" cmpd="sng" algn="ctr">
                      <a:solidFill>
                        <a:srgbClr val="E3E8F0"/>
                      </a:solidFill>
                      <a:prstDash val="solid"/>
                      <a:round/>
                      <a:headEnd type="none" w="med" len="med"/>
                      <a:tailEnd type="none" w="med" len="med"/>
                    </a:lnL>
                    <a:lnR w="6350" cap="flat" cmpd="sng" algn="ctr">
                      <a:solidFill>
                        <a:srgbClr val="E3E8F0"/>
                      </a:solidFill>
                      <a:prstDash val="solid"/>
                      <a:round/>
                      <a:headEnd type="none" w="med" len="med"/>
                      <a:tailEnd type="none" w="med" len="med"/>
                    </a:lnR>
                    <a:lnT w="6350" cap="flat" cmpd="sng" algn="ctr">
                      <a:solidFill>
                        <a:srgbClr val="E3E8F0"/>
                      </a:solidFill>
                      <a:prstDash val="solid"/>
                      <a:round/>
                      <a:headEnd type="none" w="med" len="med"/>
                      <a:tailEnd type="none" w="med" len="med"/>
                    </a:lnT>
                    <a:lnB w="6350" cap="flat" cmpd="sng" algn="ctr">
                      <a:solidFill>
                        <a:srgbClr val="E3E8F0"/>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B2436"/>
                          </a:solidFill>
                        </a:rPr>
                        <a:t>122</a:t>
                      </a:r>
                      <a:endParaRPr lang="en-US" sz="1000" dirty="0"/>
                    </a:p>
                  </a:txBody>
                  <a:tcPr marL="91440" marR="91440" marT="45720" marB="45720">
                    <a:lnL w="6350" cap="flat" cmpd="sng" algn="ctr">
                      <a:solidFill>
                        <a:srgbClr val="E3E8F0"/>
                      </a:solidFill>
                      <a:prstDash val="solid"/>
                      <a:round/>
                      <a:headEnd type="none" w="med" len="med"/>
                      <a:tailEnd type="none" w="med" len="med"/>
                    </a:lnL>
                    <a:lnR w="6350" cap="flat" cmpd="sng" algn="ctr">
                      <a:solidFill>
                        <a:srgbClr val="E3E8F0"/>
                      </a:solidFill>
                      <a:prstDash val="solid"/>
                      <a:round/>
                      <a:headEnd type="none" w="med" len="med"/>
                      <a:tailEnd type="none" w="med" len="med"/>
                    </a:lnR>
                    <a:lnT w="6350" cap="flat" cmpd="sng" algn="ctr">
                      <a:solidFill>
                        <a:srgbClr val="E3E8F0"/>
                      </a:solidFill>
                      <a:prstDash val="solid"/>
                      <a:round/>
                      <a:headEnd type="none" w="med" len="med"/>
                      <a:tailEnd type="none" w="med" len="med"/>
                    </a:lnT>
                    <a:lnB w="6350" cap="flat" cmpd="sng" algn="ctr">
                      <a:solidFill>
                        <a:srgbClr val="E3E8F0"/>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B2436"/>
                          </a:solidFill>
                        </a:rPr>
                        <a:t>0</a:t>
                      </a:r>
                      <a:endParaRPr lang="en-US" sz="1000" dirty="0"/>
                    </a:p>
                  </a:txBody>
                  <a:tcPr marL="91440" marR="91440" marT="45720" marB="45720">
                    <a:lnL w="6350" cap="flat" cmpd="sng" algn="ctr">
                      <a:solidFill>
                        <a:srgbClr val="E3E8F0"/>
                      </a:solidFill>
                      <a:prstDash val="solid"/>
                      <a:round/>
                      <a:headEnd type="none" w="med" len="med"/>
                      <a:tailEnd type="none" w="med" len="med"/>
                    </a:lnL>
                    <a:lnR w="6350" cap="flat" cmpd="sng" algn="ctr">
                      <a:solidFill>
                        <a:srgbClr val="E3E8F0"/>
                      </a:solidFill>
                      <a:prstDash val="solid"/>
                      <a:round/>
                      <a:headEnd type="none" w="med" len="med"/>
                      <a:tailEnd type="none" w="med" len="med"/>
                    </a:lnR>
                    <a:lnT w="6350" cap="flat" cmpd="sng" algn="ctr">
                      <a:solidFill>
                        <a:srgbClr val="E3E8F0"/>
                      </a:solidFill>
                      <a:prstDash val="solid"/>
                      <a:round/>
                      <a:headEnd type="none" w="med" len="med"/>
                      <a:tailEnd type="none" w="med" len="med"/>
                    </a:lnT>
                    <a:lnB w="6350" cap="flat" cmpd="sng" algn="ctr">
                      <a:solidFill>
                        <a:srgbClr val="E3E8F0"/>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B2436"/>
                          </a:solidFill>
                        </a:rPr>
                        <a:t>0.847</a:t>
                      </a:r>
                      <a:endParaRPr lang="en-US" sz="1000" dirty="0"/>
                    </a:p>
                  </a:txBody>
                  <a:tcPr marL="91440" marR="91440" marT="45720" marB="45720">
                    <a:lnL w="6350" cap="flat" cmpd="sng" algn="ctr">
                      <a:solidFill>
                        <a:srgbClr val="E3E8F0"/>
                      </a:solidFill>
                      <a:prstDash val="solid"/>
                      <a:round/>
                      <a:headEnd type="none" w="med" len="med"/>
                      <a:tailEnd type="none" w="med" len="med"/>
                    </a:lnL>
                    <a:lnR w="6350" cap="flat" cmpd="sng" algn="ctr">
                      <a:solidFill>
                        <a:srgbClr val="E3E8F0"/>
                      </a:solidFill>
                      <a:prstDash val="solid"/>
                      <a:round/>
                      <a:headEnd type="none" w="med" len="med"/>
                      <a:tailEnd type="none" w="med" len="med"/>
                    </a:lnR>
                    <a:lnT w="6350" cap="flat" cmpd="sng" algn="ctr">
                      <a:solidFill>
                        <a:srgbClr val="E3E8F0"/>
                      </a:solidFill>
                      <a:prstDash val="solid"/>
                      <a:round/>
                      <a:headEnd type="none" w="med" len="med"/>
                      <a:tailEnd type="none" w="med" len="med"/>
                    </a:lnT>
                    <a:lnB w="6350" cap="flat" cmpd="sng" algn="ctr">
                      <a:solidFill>
                        <a:srgbClr val="E3E8F0"/>
                      </a:solidFill>
                      <a:prstDash val="solid"/>
                      <a:round/>
                      <a:headEnd type="none" w="med" len="med"/>
                      <a:tailEnd type="none" w="med" len="med"/>
                    </a:lnB>
                    <a:solidFill>
                      <a:srgbClr val="FFFFFF"/>
                    </a:solidFill>
                  </a:tcPr>
                </a:tc>
              </a:tr>
              <a:tr h="448887">
                <a:tc>
                  <a:txBody>
                    <a:bodyPr/>
                    <a:lstStyle/>
                    <a:p>
                      <a:pPr indent="0" marL="0">
                        <a:buNone/>
                      </a:pPr>
                      <a:r>
                        <a:rPr lang="en-US" sz="1000" b="1" dirty="0">
                          <a:solidFill>
                            <a:srgbClr val="1B2436"/>
                          </a:solidFill>
                        </a:rPr>
                        <a:t>Dankpen</a:t>
                      </a:r>
                      <a:endParaRPr lang="en-US" sz="1000" dirty="0"/>
                    </a:p>
                  </a:txBody>
                  <a:tcPr marL="91440" marR="91440" marT="45720" marB="45720">
                    <a:lnL w="6350" cap="flat" cmpd="sng" algn="ctr">
                      <a:solidFill>
                        <a:srgbClr val="E3E8F0"/>
                      </a:solidFill>
                      <a:prstDash val="solid"/>
                      <a:round/>
                      <a:headEnd type="none" w="med" len="med"/>
                      <a:tailEnd type="none" w="med" len="med"/>
                    </a:lnL>
                    <a:lnR w="6350" cap="flat" cmpd="sng" algn="ctr">
                      <a:solidFill>
                        <a:srgbClr val="E3E8F0"/>
                      </a:solidFill>
                      <a:prstDash val="solid"/>
                      <a:round/>
                      <a:headEnd type="none" w="med" len="med"/>
                      <a:tailEnd type="none" w="med" len="med"/>
                    </a:lnR>
                    <a:lnT w="6350" cap="flat" cmpd="sng" algn="ctr">
                      <a:solidFill>
                        <a:srgbClr val="E3E8F0"/>
                      </a:solidFill>
                      <a:prstDash val="solid"/>
                      <a:round/>
                      <a:headEnd type="none" w="med" len="med"/>
                      <a:tailEnd type="none" w="med" len="med"/>
                    </a:lnT>
                    <a:lnB w="6350" cap="flat" cmpd="sng" algn="ctr">
                      <a:solidFill>
                        <a:srgbClr val="E3E8F0"/>
                      </a:solidFill>
                      <a:prstDash val="solid"/>
                      <a:round/>
                      <a:headEnd type="none" w="med" len="med"/>
                      <a:tailEnd type="none" w="med" len="med"/>
                    </a:lnB>
                    <a:solidFill>
                      <a:srgbClr val="FDF1EC"/>
                    </a:solidFill>
                  </a:tcPr>
                </a:tc>
                <a:tc>
                  <a:txBody>
                    <a:bodyPr/>
                    <a:lstStyle/>
                    <a:p>
                      <a:pPr algn="r" indent="0" marL="0">
                        <a:buNone/>
                      </a:pPr>
                      <a:r>
                        <a:rPr lang="en-US" sz="1000" dirty="0">
                          <a:solidFill>
                            <a:srgbClr val="1B2436"/>
                          </a:solidFill>
                        </a:rPr>
                        <a:t>271 032</a:t>
                      </a:r>
                      <a:endParaRPr lang="en-US" sz="1000" dirty="0"/>
                    </a:p>
                  </a:txBody>
                  <a:tcPr marL="91440" marR="91440" marT="45720" marB="45720">
                    <a:lnL w="6350" cap="flat" cmpd="sng" algn="ctr">
                      <a:solidFill>
                        <a:srgbClr val="E3E8F0"/>
                      </a:solidFill>
                      <a:prstDash val="solid"/>
                      <a:round/>
                      <a:headEnd type="none" w="med" len="med"/>
                      <a:tailEnd type="none" w="med" len="med"/>
                    </a:lnL>
                    <a:lnR w="6350" cap="flat" cmpd="sng" algn="ctr">
                      <a:solidFill>
                        <a:srgbClr val="E3E8F0"/>
                      </a:solidFill>
                      <a:prstDash val="solid"/>
                      <a:round/>
                      <a:headEnd type="none" w="med" len="med"/>
                      <a:tailEnd type="none" w="med" len="med"/>
                    </a:lnR>
                    <a:lnT w="6350" cap="flat" cmpd="sng" algn="ctr">
                      <a:solidFill>
                        <a:srgbClr val="E3E8F0"/>
                      </a:solidFill>
                      <a:prstDash val="solid"/>
                      <a:round/>
                      <a:headEnd type="none" w="med" len="med"/>
                      <a:tailEnd type="none" w="med" len="med"/>
                    </a:lnT>
                    <a:lnB w="6350" cap="flat" cmpd="sng" algn="ctr">
                      <a:solidFill>
                        <a:srgbClr val="E3E8F0"/>
                      </a:solidFill>
                      <a:prstDash val="solid"/>
                      <a:round/>
                      <a:headEnd type="none" w="med" len="med"/>
                      <a:tailEnd type="none" w="med" len="med"/>
                    </a:lnB>
                    <a:solidFill>
                      <a:srgbClr val="FDF1EC"/>
                    </a:solidFill>
                  </a:tcPr>
                </a:tc>
                <a:tc>
                  <a:txBody>
                    <a:bodyPr/>
                    <a:lstStyle/>
                    <a:p>
                      <a:pPr algn="r" indent="0" marL="0">
                        <a:buNone/>
                      </a:pPr>
                      <a:r>
                        <a:rPr lang="en-US" sz="1000" dirty="0">
                          <a:solidFill>
                            <a:srgbClr val="1B2436"/>
                          </a:solidFill>
                        </a:rPr>
                        <a:t>201</a:t>
                      </a:r>
                      <a:endParaRPr lang="en-US" sz="1000" dirty="0"/>
                    </a:p>
                  </a:txBody>
                  <a:tcPr marL="91440" marR="91440" marT="45720" marB="45720">
                    <a:lnL w="6350" cap="flat" cmpd="sng" algn="ctr">
                      <a:solidFill>
                        <a:srgbClr val="E3E8F0"/>
                      </a:solidFill>
                      <a:prstDash val="solid"/>
                      <a:round/>
                      <a:headEnd type="none" w="med" len="med"/>
                      <a:tailEnd type="none" w="med" len="med"/>
                    </a:lnL>
                    <a:lnR w="6350" cap="flat" cmpd="sng" algn="ctr">
                      <a:solidFill>
                        <a:srgbClr val="E3E8F0"/>
                      </a:solidFill>
                      <a:prstDash val="solid"/>
                      <a:round/>
                      <a:headEnd type="none" w="med" len="med"/>
                      <a:tailEnd type="none" w="med" len="med"/>
                    </a:lnR>
                    <a:lnT w="6350" cap="flat" cmpd="sng" algn="ctr">
                      <a:solidFill>
                        <a:srgbClr val="E3E8F0"/>
                      </a:solidFill>
                      <a:prstDash val="solid"/>
                      <a:round/>
                      <a:headEnd type="none" w="med" len="med"/>
                      <a:tailEnd type="none" w="med" len="med"/>
                    </a:lnT>
                    <a:lnB w="6350" cap="flat" cmpd="sng" algn="ctr">
                      <a:solidFill>
                        <a:srgbClr val="E3E8F0"/>
                      </a:solidFill>
                      <a:prstDash val="solid"/>
                      <a:round/>
                      <a:headEnd type="none" w="med" len="med"/>
                      <a:tailEnd type="none" w="med" len="med"/>
                    </a:lnB>
                    <a:solidFill>
                      <a:srgbClr val="FDF1EC"/>
                    </a:solidFill>
                  </a:tcPr>
                </a:tc>
                <a:tc>
                  <a:txBody>
                    <a:bodyPr/>
                    <a:lstStyle/>
                    <a:p>
                      <a:pPr algn="r" indent="0" marL="0">
                        <a:buNone/>
                      </a:pPr>
                      <a:r>
                        <a:rPr lang="en-US" sz="1000" dirty="0">
                          <a:solidFill>
                            <a:srgbClr val="1B2436"/>
                          </a:solidFill>
                        </a:rPr>
                        <a:t>0</a:t>
                      </a:r>
                      <a:endParaRPr lang="en-US" sz="1000" dirty="0"/>
                    </a:p>
                  </a:txBody>
                  <a:tcPr marL="91440" marR="91440" marT="45720" marB="45720">
                    <a:lnL w="6350" cap="flat" cmpd="sng" algn="ctr">
                      <a:solidFill>
                        <a:srgbClr val="E3E8F0"/>
                      </a:solidFill>
                      <a:prstDash val="solid"/>
                      <a:round/>
                      <a:headEnd type="none" w="med" len="med"/>
                      <a:tailEnd type="none" w="med" len="med"/>
                    </a:lnL>
                    <a:lnR w="6350" cap="flat" cmpd="sng" algn="ctr">
                      <a:solidFill>
                        <a:srgbClr val="E3E8F0"/>
                      </a:solidFill>
                      <a:prstDash val="solid"/>
                      <a:round/>
                      <a:headEnd type="none" w="med" len="med"/>
                      <a:tailEnd type="none" w="med" len="med"/>
                    </a:lnR>
                    <a:lnT w="6350" cap="flat" cmpd="sng" algn="ctr">
                      <a:solidFill>
                        <a:srgbClr val="E3E8F0"/>
                      </a:solidFill>
                      <a:prstDash val="solid"/>
                      <a:round/>
                      <a:headEnd type="none" w="med" len="med"/>
                      <a:tailEnd type="none" w="med" len="med"/>
                    </a:lnT>
                    <a:lnB w="6350" cap="flat" cmpd="sng" algn="ctr">
                      <a:solidFill>
                        <a:srgbClr val="E3E8F0"/>
                      </a:solidFill>
                      <a:prstDash val="solid"/>
                      <a:round/>
                      <a:headEnd type="none" w="med" len="med"/>
                      <a:tailEnd type="none" w="med" len="med"/>
                    </a:lnB>
                    <a:solidFill>
                      <a:srgbClr val="FDF1EC"/>
                    </a:solidFill>
                  </a:tcPr>
                </a:tc>
                <a:tc>
                  <a:txBody>
                    <a:bodyPr/>
                    <a:lstStyle/>
                    <a:p>
                      <a:pPr algn="r" indent="0" marL="0">
                        <a:buNone/>
                      </a:pPr>
                      <a:r>
                        <a:rPr lang="en-US" sz="1000" dirty="0">
                          <a:solidFill>
                            <a:srgbClr val="1B2436"/>
                          </a:solidFill>
                        </a:rPr>
                        <a:t>0.801</a:t>
                      </a:r>
                      <a:endParaRPr lang="en-US" sz="1000" dirty="0"/>
                    </a:p>
                  </a:txBody>
                  <a:tcPr marL="91440" marR="91440" marT="45720" marB="45720">
                    <a:lnL w="6350" cap="flat" cmpd="sng" algn="ctr">
                      <a:solidFill>
                        <a:srgbClr val="E3E8F0"/>
                      </a:solidFill>
                      <a:prstDash val="solid"/>
                      <a:round/>
                      <a:headEnd type="none" w="med" len="med"/>
                      <a:tailEnd type="none" w="med" len="med"/>
                    </a:lnL>
                    <a:lnR w="6350" cap="flat" cmpd="sng" algn="ctr">
                      <a:solidFill>
                        <a:srgbClr val="E3E8F0"/>
                      </a:solidFill>
                      <a:prstDash val="solid"/>
                      <a:round/>
                      <a:headEnd type="none" w="med" len="med"/>
                      <a:tailEnd type="none" w="med" len="med"/>
                    </a:lnR>
                    <a:lnT w="6350" cap="flat" cmpd="sng" algn="ctr">
                      <a:solidFill>
                        <a:srgbClr val="E3E8F0"/>
                      </a:solidFill>
                      <a:prstDash val="solid"/>
                      <a:round/>
                      <a:headEnd type="none" w="med" len="med"/>
                      <a:tailEnd type="none" w="med" len="med"/>
                    </a:lnT>
                    <a:lnB w="6350" cap="flat" cmpd="sng" algn="ctr">
                      <a:solidFill>
                        <a:srgbClr val="E3E8F0"/>
                      </a:solidFill>
                      <a:prstDash val="solid"/>
                      <a:round/>
                      <a:headEnd type="none" w="med" len="med"/>
                      <a:tailEnd type="none" w="med" len="med"/>
                    </a:lnB>
                    <a:solidFill>
                      <a:srgbClr val="FDF1EC"/>
                    </a:solidFill>
                  </a:tcPr>
                </a:tc>
              </a:tr>
              <a:tr h="448887">
                <a:tc>
                  <a:txBody>
                    <a:bodyPr/>
                    <a:lstStyle/>
                    <a:p>
                      <a:pPr indent="0" marL="0">
                        <a:buNone/>
                      </a:pPr>
                      <a:r>
                        <a:rPr lang="en-US" sz="1000" b="1" dirty="0">
                          <a:solidFill>
                            <a:srgbClr val="1B2436"/>
                          </a:solidFill>
                        </a:rPr>
                        <a:t>Haho</a:t>
                      </a:r>
                      <a:endParaRPr lang="en-US" sz="1000" dirty="0"/>
                    </a:p>
                  </a:txBody>
                  <a:tcPr marL="91440" marR="91440" marT="45720" marB="45720">
                    <a:lnL w="6350" cap="flat" cmpd="sng" algn="ctr">
                      <a:solidFill>
                        <a:srgbClr val="E3E8F0"/>
                      </a:solidFill>
                      <a:prstDash val="solid"/>
                      <a:round/>
                      <a:headEnd type="none" w="med" len="med"/>
                      <a:tailEnd type="none" w="med" len="med"/>
                    </a:lnL>
                    <a:lnR w="6350" cap="flat" cmpd="sng" algn="ctr">
                      <a:solidFill>
                        <a:srgbClr val="E3E8F0"/>
                      </a:solidFill>
                      <a:prstDash val="solid"/>
                      <a:round/>
                      <a:headEnd type="none" w="med" len="med"/>
                      <a:tailEnd type="none" w="med" len="med"/>
                    </a:lnR>
                    <a:lnT w="6350" cap="flat" cmpd="sng" algn="ctr">
                      <a:solidFill>
                        <a:srgbClr val="E3E8F0"/>
                      </a:solidFill>
                      <a:prstDash val="solid"/>
                      <a:round/>
                      <a:headEnd type="none" w="med" len="med"/>
                      <a:tailEnd type="none" w="med" len="med"/>
                    </a:lnT>
                    <a:lnB w="6350" cap="flat" cmpd="sng" algn="ctr">
                      <a:solidFill>
                        <a:srgbClr val="E3E8F0"/>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B2436"/>
                          </a:solidFill>
                        </a:rPr>
                        <a:t>364 773</a:t>
                      </a:r>
                      <a:endParaRPr lang="en-US" sz="1000" dirty="0"/>
                    </a:p>
                  </a:txBody>
                  <a:tcPr marL="91440" marR="91440" marT="45720" marB="45720">
                    <a:lnL w="6350" cap="flat" cmpd="sng" algn="ctr">
                      <a:solidFill>
                        <a:srgbClr val="E3E8F0"/>
                      </a:solidFill>
                      <a:prstDash val="solid"/>
                      <a:round/>
                      <a:headEnd type="none" w="med" len="med"/>
                      <a:tailEnd type="none" w="med" len="med"/>
                    </a:lnL>
                    <a:lnR w="6350" cap="flat" cmpd="sng" algn="ctr">
                      <a:solidFill>
                        <a:srgbClr val="E3E8F0"/>
                      </a:solidFill>
                      <a:prstDash val="solid"/>
                      <a:round/>
                      <a:headEnd type="none" w="med" len="med"/>
                      <a:tailEnd type="none" w="med" len="med"/>
                    </a:lnR>
                    <a:lnT w="6350" cap="flat" cmpd="sng" algn="ctr">
                      <a:solidFill>
                        <a:srgbClr val="E3E8F0"/>
                      </a:solidFill>
                      <a:prstDash val="solid"/>
                      <a:round/>
                      <a:headEnd type="none" w="med" len="med"/>
                      <a:tailEnd type="none" w="med" len="med"/>
                    </a:lnT>
                    <a:lnB w="6350" cap="flat" cmpd="sng" algn="ctr">
                      <a:solidFill>
                        <a:srgbClr val="E3E8F0"/>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B2436"/>
                          </a:solidFill>
                        </a:rPr>
                        <a:t>423</a:t>
                      </a:r>
                      <a:endParaRPr lang="en-US" sz="1000" dirty="0"/>
                    </a:p>
                  </a:txBody>
                  <a:tcPr marL="91440" marR="91440" marT="45720" marB="45720">
                    <a:lnL w="6350" cap="flat" cmpd="sng" algn="ctr">
                      <a:solidFill>
                        <a:srgbClr val="E3E8F0"/>
                      </a:solidFill>
                      <a:prstDash val="solid"/>
                      <a:round/>
                      <a:headEnd type="none" w="med" len="med"/>
                      <a:tailEnd type="none" w="med" len="med"/>
                    </a:lnL>
                    <a:lnR w="6350" cap="flat" cmpd="sng" algn="ctr">
                      <a:solidFill>
                        <a:srgbClr val="E3E8F0"/>
                      </a:solidFill>
                      <a:prstDash val="solid"/>
                      <a:round/>
                      <a:headEnd type="none" w="med" len="med"/>
                      <a:tailEnd type="none" w="med" len="med"/>
                    </a:lnR>
                    <a:lnT w="6350" cap="flat" cmpd="sng" algn="ctr">
                      <a:solidFill>
                        <a:srgbClr val="E3E8F0"/>
                      </a:solidFill>
                      <a:prstDash val="solid"/>
                      <a:round/>
                      <a:headEnd type="none" w="med" len="med"/>
                      <a:tailEnd type="none" w="med" len="med"/>
                    </a:lnT>
                    <a:lnB w="6350" cap="flat" cmpd="sng" algn="ctr">
                      <a:solidFill>
                        <a:srgbClr val="E3E8F0"/>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B2436"/>
                          </a:solidFill>
                        </a:rPr>
                        <a:t>0</a:t>
                      </a:r>
                      <a:endParaRPr lang="en-US" sz="1000" dirty="0"/>
                    </a:p>
                  </a:txBody>
                  <a:tcPr marL="91440" marR="91440" marT="45720" marB="45720">
                    <a:lnL w="6350" cap="flat" cmpd="sng" algn="ctr">
                      <a:solidFill>
                        <a:srgbClr val="E3E8F0"/>
                      </a:solidFill>
                      <a:prstDash val="solid"/>
                      <a:round/>
                      <a:headEnd type="none" w="med" len="med"/>
                      <a:tailEnd type="none" w="med" len="med"/>
                    </a:lnL>
                    <a:lnR w="6350" cap="flat" cmpd="sng" algn="ctr">
                      <a:solidFill>
                        <a:srgbClr val="E3E8F0"/>
                      </a:solidFill>
                      <a:prstDash val="solid"/>
                      <a:round/>
                      <a:headEnd type="none" w="med" len="med"/>
                      <a:tailEnd type="none" w="med" len="med"/>
                    </a:lnR>
                    <a:lnT w="6350" cap="flat" cmpd="sng" algn="ctr">
                      <a:solidFill>
                        <a:srgbClr val="E3E8F0"/>
                      </a:solidFill>
                      <a:prstDash val="solid"/>
                      <a:round/>
                      <a:headEnd type="none" w="med" len="med"/>
                      <a:tailEnd type="none" w="med" len="med"/>
                    </a:lnT>
                    <a:lnB w="6350" cap="flat" cmpd="sng" algn="ctr">
                      <a:solidFill>
                        <a:srgbClr val="E3E8F0"/>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B2436"/>
                          </a:solidFill>
                        </a:rPr>
                        <a:t>0.798</a:t>
                      </a:r>
                      <a:endParaRPr lang="en-US" sz="1000" dirty="0"/>
                    </a:p>
                  </a:txBody>
                  <a:tcPr marL="91440" marR="91440" marT="45720" marB="45720">
                    <a:lnL w="6350" cap="flat" cmpd="sng" algn="ctr">
                      <a:solidFill>
                        <a:srgbClr val="E3E8F0"/>
                      </a:solidFill>
                      <a:prstDash val="solid"/>
                      <a:round/>
                      <a:headEnd type="none" w="med" len="med"/>
                      <a:tailEnd type="none" w="med" len="med"/>
                    </a:lnL>
                    <a:lnR w="6350" cap="flat" cmpd="sng" algn="ctr">
                      <a:solidFill>
                        <a:srgbClr val="E3E8F0"/>
                      </a:solidFill>
                      <a:prstDash val="solid"/>
                      <a:round/>
                      <a:headEnd type="none" w="med" len="med"/>
                      <a:tailEnd type="none" w="med" len="med"/>
                    </a:lnR>
                    <a:lnT w="6350" cap="flat" cmpd="sng" algn="ctr">
                      <a:solidFill>
                        <a:srgbClr val="E3E8F0"/>
                      </a:solidFill>
                      <a:prstDash val="solid"/>
                      <a:round/>
                      <a:headEnd type="none" w="med" len="med"/>
                      <a:tailEnd type="none" w="med" len="med"/>
                    </a:lnT>
                    <a:lnB w="6350" cap="flat" cmpd="sng" algn="ctr">
                      <a:solidFill>
                        <a:srgbClr val="E3E8F0"/>
                      </a:solidFill>
                      <a:prstDash val="solid"/>
                      <a:round/>
                      <a:headEnd type="none" w="med" len="med"/>
                      <a:tailEnd type="none" w="med" len="med"/>
                    </a:lnB>
                    <a:solidFill>
                      <a:srgbClr val="FFFFFF"/>
                    </a:solidFill>
                  </a:tcPr>
                </a:tc>
              </a:tr>
              <a:tr h="448887">
                <a:tc>
                  <a:txBody>
                    <a:bodyPr/>
                    <a:lstStyle/>
                    <a:p>
                      <a:pPr indent="0" marL="0">
                        <a:buNone/>
                      </a:pPr>
                      <a:r>
                        <a:rPr lang="en-US" sz="1000" b="1" dirty="0">
                          <a:solidFill>
                            <a:srgbClr val="1B2436"/>
                          </a:solidFill>
                        </a:rPr>
                        <a:t>Tchamba</a:t>
                      </a:r>
                      <a:endParaRPr lang="en-US" sz="1000" dirty="0"/>
                    </a:p>
                  </a:txBody>
                  <a:tcPr marL="91440" marR="91440" marT="45720" marB="45720">
                    <a:lnL w="6350" cap="flat" cmpd="sng" algn="ctr">
                      <a:solidFill>
                        <a:srgbClr val="E3E8F0"/>
                      </a:solidFill>
                      <a:prstDash val="solid"/>
                      <a:round/>
                      <a:headEnd type="none" w="med" len="med"/>
                      <a:tailEnd type="none" w="med" len="med"/>
                    </a:lnL>
                    <a:lnR w="6350" cap="flat" cmpd="sng" algn="ctr">
                      <a:solidFill>
                        <a:srgbClr val="E3E8F0"/>
                      </a:solidFill>
                      <a:prstDash val="solid"/>
                      <a:round/>
                      <a:headEnd type="none" w="med" len="med"/>
                      <a:tailEnd type="none" w="med" len="med"/>
                    </a:lnR>
                    <a:lnT w="6350" cap="flat" cmpd="sng" algn="ctr">
                      <a:solidFill>
                        <a:srgbClr val="E3E8F0"/>
                      </a:solidFill>
                      <a:prstDash val="solid"/>
                      <a:round/>
                      <a:headEnd type="none" w="med" len="med"/>
                      <a:tailEnd type="none" w="med" len="med"/>
                    </a:lnT>
                    <a:lnB w="6350" cap="flat" cmpd="sng" algn="ctr">
                      <a:solidFill>
                        <a:srgbClr val="E3E8F0"/>
                      </a:solidFill>
                      <a:prstDash val="solid"/>
                      <a:round/>
                      <a:headEnd type="none" w="med" len="med"/>
                      <a:tailEnd type="none" w="med" len="med"/>
                    </a:lnB>
                    <a:solidFill>
                      <a:srgbClr val="FDF1EC"/>
                    </a:solidFill>
                  </a:tcPr>
                </a:tc>
                <a:tc>
                  <a:txBody>
                    <a:bodyPr/>
                    <a:lstStyle/>
                    <a:p>
                      <a:pPr algn="r" indent="0" marL="0">
                        <a:buNone/>
                      </a:pPr>
                      <a:r>
                        <a:rPr lang="en-US" sz="1000" dirty="0">
                          <a:solidFill>
                            <a:srgbClr val="1B2436"/>
                          </a:solidFill>
                        </a:rPr>
                        <a:t>255 861</a:t>
                      </a:r>
                      <a:endParaRPr lang="en-US" sz="1000" dirty="0"/>
                    </a:p>
                  </a:txBody>
                  <a:tcPr marL="91440" marR="91440" marT="45720" marB="45720">
                    <a:lnL w="6350" cap="flat" cmpd="sng" algn="ctr">
                      <a:solidFill>
                        <a:srgbClr val="E3E8F0"/>
                      </a:solidFill>
                      <a:prstDash val="solid"/>
                      <a:round/>
                      <a:headEnd type="none" w="med" len="med"/>
                      <a:tailEnd type="none" w="med" len="med"/>
                    </a:lnL>
                    <a:lnR w="6350" cap="flat" cmpd="sng" algn="ctr">
                      <a:solidFill>
                        <a:srgbClr val="E3E8F0"/>
                      </a:solidFill>
                      <a:prstDash val="solid"/>
                      <a:round/>
                      <a:headEnd type="none" w="med" len="med"/>
                      <a:tailEnd type="none" w="med" len="med"/>
                    </a:lnR>
                    <a:lnT w="6350" cap="flat" cmpd="sng" algn="ctr">
                      <a:solidFill>
                        <a:srgbClr val="E3E8F0"/>
                      </a:solidFill>
                      <a:prstDash val="solid"/>
                      <a:round/>
                      <a:headEnd type="none" w="med" len="med"/>
                      <a:tailEnd type="none" w="med" len="med"/>
                    </a:lnT>
                    <a:lnB w="6350" cap="flat" cmpd="sng" algn="ctr">
                      <a:solidFill>
                        <a:srgbClr val="E3E8F0"/>
                      </a:solidFill>
                      <a:prstDash val="solid"/>
                      <a:round/>
                      <a:headEnd type="none" w="med" len="med"/>
                      <a:tailEnd type="none" w="med" len="med"/>
                    </a:lnB>
                    <a:solidFill>
                      <a:srgbClr val="FDF1EC"/>
                    </a:solidFill>
                  </a:tcPr>
                </a:tc>
                <a:tc>
                  <a:txBody>
                    <a:bodyPr/>
                    <a:lstStyle/>
                    <a:p>
                      <a:pPr algn="r" indent="0" marL="0">
                        <a:buNone/>
                      </a:pPr>
                      <a:r>
                        <a:rPr lang="en-US" sz="1000" dirty="0">
                          <a:solidFill>
                            <a:srgbClr val="1B2436"/>
                          </a:solidFill>
                        </a:rPr>
                        <a:t>205</a:t>
                      </a:r>
                      <a:endParaRPr lang="en-US" sz="1000" dirty="0"/>
                    </a:p>
                  </a:txBody>
                  <a:tcPr marL="91440" marR="91440" marT="45720" marB="45720">
                    <a:lnL w="6350" cap="flat" cmpd="sng" algn="ctr">
                      <a:solidFill>
                        <a:srgbClr val="E3E8F0"/>
                      </a:solidFill>
                      <a:prstDash val="solid"/>
                      <a:round/>
                      <a:headEnd type="none" w="med" len="med"/>
                      <a:tailEnd type="none" w="med" len="med"/>
                    </a:lnL>
                    <a:lnR w="6350" cap="flat" cmpd="sng" algn="ctr">
                      <a:solidFill>
                        <a:srgbClr val="E3E8F0"/>
                      </a:solidFill>
                      <a:prstDash val="solid"/>
                      <a:round/>
                      <a:headEnd type="none" w="med" len="med"/>
                      <a:tailEnd type="none" w="med" len="med"/>
                    </a:lnR>
                    <a:lnT w="6350" cap="flat" cmpd="sng" algn="ctr">
                      <a:solidFill>
                        <a:srgbClr val="E3E8F0"/>
                      </a:solidFill>
                      <a:prstDash val="solid"/>
                      <a:round/>
                      <a:headEnd type="none" w="med" len="med"/>
                      <a:tailEnd type="none" w="med" len="med"/>
                    </a:lnT>
                    <a:lnB w="6350" cap="flat" cmpd="sng" algn="ctr">
                      <a:solidFill>
                        <a:srgbClr val="E3E8F0"/>
                      </a:solidFill>
                      <a:prstDash val="solid"/>
                      <a:round/>
                      <a:headEnd type="none" w="med" len="med"/>
                      <a:tailEnd type="none" w="med" len="med"/>
                    </a:lnB>
                    <a:solidFill>
                      <a:srgbClr val="FDF1EC"/>
                    </a:solidFill>
                  </a:tcPr>
                </a:tc>
                <a:tc>
                  <a:txBody>
                    <a:bodyPr/>
                    <a:lstStyle/>
                    <a:p>
                      <a:pPr algn="r" indent="0" marL="0">
                        <a:buNone/>
                      </a:pPr>
                      <a:r>
                        <a:rPr lang="en-US" sz="1000" dirty="0">
                          <a:solidFill>
                            <a:srgbClr val="1B2436"/>
                          </a:solidFill>
                        </a:rPr>
                        <a:t>0</a:t>
                      </a:r>
                      <a:endParaRPr lang="en-US" sz="1000" dirty="0"/>
                    </a:p>
                  </a:txBody>
                  <a:tcPr marL="91440" marR="91440" marT="45720" marB="45720">
                    <a:lnL w="6350" cap="flat" cmpd="sng" algn="ctr">
                      <a:solidFill>
                        <a:srgbClr val="E3E8F0"/>
                      </a:solidFill>
                      <a:prstDash val="solid"/>
                      <a:round/>
                      <a:headEnd type="none" w="med" len="med"/>
                      <a:tailEnd type="none" w="med" len="med"/>
                    </a:lnL>
                    <a:lnR w="6350" cap="flat" cmpd="sng" algn="ctr">
                      <a:solidFill>
                        <a:srgbClr val="E3E8F0"/>
                      </a:solidFill>
                      <a:prstDash val="solid"/>
                      <a:round/>
                      <a:headEnd type="none" w="med" len="med"/>
                      <a:tailEnd type="none" w="med" len="med"/>
                    </a:lnR>
                    <a:lnT w="6350" cap="flat" cmpd="sng" algn="ctr">
                      <a:solidFill>
                        <a:srgbClr val="E3E8F0"/>
                      </a:solidFill>
                      <a:prstDash val="solid"/>
                      <a:round/>
                      <a:headEnd type="none" w="med" len="med"/>
                      <a:tailEnd type="none" w="med" len="med"/>
                    </a:lnT>
                    <a:lnB w="6350" cap="flat" cmpd="sng" algn="ctr">
                      <a:solidFill>
                        <a:srgbClr val="E3E8F0"/>
                      </a:solidFill>
                      <a:prstDash val="solid"/>
                      <a:round/>
                      <a:headEnd type="none" w="med" len="med"/>
                      <a:tailEnd type="none" w="med" len="med"/>
                    </a:lnB>
                    <a:solidFill>
                      <a:srgbClr val="FDF1EC"/>
                    </a:solidFill>
                  </a:tcPr>
                </a:tc>
                <a:tc>
                  <a:txBody>
                    <a:bodyPr/>
                    <a:lstStyle/>
                    <a:p>
                      <a:pPr algn="r" indent="0" marL="0">
                        <a:buNone/>
                      </a:pPr>
                      <a:r>
                        <a:rPr lang="en-US" sz="1000" dirty="0">
                          <a:solidFill>
                            <a:srgbClr val="1B2436"/>
                          </a:solidFill>
                        </a:rPr>
                        <a:t>0.790</a:t>
                      </a:r>
                      <a:endParaRPr lang="en-US" sz="1000" dirty="0"/>
                    </a:p>
                  </a:txBody>
                  <a:tcPr marL="91440" marR="91440" marT="45720" marB="45720">
                    <a:lnL w="6350" cap="flat" cmpd="sng" algn="ctr">
                      <a:solidFill>
                        <a:srgbClr val="E3E8F0"/>
                      </a:solidFill>
                      <a:prstDash val="solid"/>
                      <a:round/>
                      <a:headEnd type="none" w="med" len="med"/>
                      <a:tailEnd type="none" w="med" len="med"/>
                    </a:lnL>
                    <a:lnR w="6350" cap="flat" cmpd="sng" algn="ctr">
                      <a:solidFill>
                        <a:srgbClr val="E3E8F0"/>
                      </a:solidFill>
                      <a:prstDash val="solid"/>
                      <a:round/>
                      <a:headEnd type="none" w="med" len="med"/>
                      <a:tailEnd type="none" w="med" len="med"/>
                    </a:lnR>
                    <a:lnT w="6350" cap="flat" cmpd="sng" algn="ctr">
                      <a:solidFill>
                        <a:srgbClr val="E3E8F0"/>
                      </a:solidFill>
                      <a:prstDash val="solid"/>
                      <a:round/>
                      <a:headEnd type="none" w="med" len="med"/>
                      <a:tailEnd type="none" w="med" len="med"/>
                    </a:lnT>
                    <a:lnB w="6350" cap="flat" cmpd="sng" algn="ctr">
                      <a:solidFill>
                        <a:srgbClr val="E3E8F0"/>
                      </a:solidFill>
                      <a:prstDash val="solid"/>
                      <a:round/>
                      <a:headEnd type="none" w="med" len="med"/>
                      <a:tailEnd type="none" w="med" len="med"/>
                    </a:lnB>
                    <a:solidFill>
                      <a:srgbClr val="FDF1EC"/>
                    </a:solidFill>
                  </a:tcPr>
                </a:tc>
              </a:tr>
              <a:tr h="448887">
                <a:tc>
                  <a:txBody>
                    <a:bodyPr/>
                    <a:lstStyle/>
                    <a:p>
                      <a:pPr indent="0" marL="0">
                        <a:buNone/>
                      </a:pPr>
                      <a:r>
                        <a:rPr lang="en-US" sz="1000" b="1" dirty="0">
                          <a:solidFill>
                            <a:srgbClr val="1B2436"/>
                          </a:solidFill>
                        </a:rPr>
                        <a:t>Zio</a:t>
                      </a:r>
                      <a:endParaRPr lang="en-US" sz="1000" dirty="0"/>
                    </a:p>
                  </a:txBody>
                  <a:tcPr marL="91440" marR="91440" marT="45720" marB="45720">
                    <a:lnL w="6350" cap="flat" cmpd="sng" algn="ctr">
                      <a:solidFill>
                        <a:srgbClr val="E3E8F0"/>
                      </a:solidFill>
                      <a:prstDash val="solid"/>
                      <a:round/>
                      <a:headEnd type="none" w="med" len="med"/>
                      <a:tailEnd type="none" w="med" len="med"/>
                    </a:lnL>
                    <a:lnR w="6350" cap="flat" cmpd="sng" algn="ctr">
                      <a:solidFill>
                        <a:srgbClr val="E3E8F0"/>
                      </a:solidFill>
                      <a:prstDash val="solid"/>
                      <a:round/>
                      <a:headEnd type="none" w="med" len="med"/>
                      <a:tailEnd type="none" w="med" len="med"/>
                    </a:lnR>
                    <a:lnT w="6350" cap="flat" cmpd="sng" algn="ctr">
                      <a:solidFill>
                        <a:srgbClr val="E3E8F0"/>
                      </a:solidFill>
                      <a:prstDash val="solid"/>
                      <a:round/>
                      <a:headEnd type="none" w="med" len="med"/>
                      <a:tailEnd type="none" w="med" len="med"/>
                    </a:lnT>
                    <a:lnB w="6350" cap="flat" cmpd="sng" algn="ctr">
                      <a:solidFill>
                        <a:srgbClr val="E3E8F0"/>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B2436"/>
                          </a:solidFill>
                        </a:rPr>
                        <a:t>660 574</a:t>
                      </a:r>
                      <a:endParaRPr lang="en-US" sz="1000" dirty="0"/>
                    </a:p>
                  </a:txBody>
                  <a:tcPr marL="91440" marR="91440" marT="45720" marB="45720">
                    <a:lnL w="6350" cap="flat" cmpd="sng" algn="ctr">
                      <a:solidFill>
                        <a:srgbClr val="E3E8F0"/>
                      </a:solidFill>
                      <a:prstDash val="solid"/>
                      <a:round/>
                      <a:headEnd type="none" w="med" len="med"/>
                      <a:tailEnd type="none" w="med" len="med"/>
                    </a:lnL>
                    <a:lnR w="6350" cap="flat" cmpd="sng" algn="ctr">
                      <a:solidFill>
                        <a:srgbClr val="E3E8F0"/>
                      </a:solidFill>
                      <a:prstDash val="solid"/>
                      <a:round/>
                      <a:headEnd type="none" w="med" len="med"/>
                      <a:tailEnd type="none" w="med" len="med"/>
                    </a:lnR>
                    <a:lnT w="6350" cap="flat" cmpd="sng" algn="ctr">
                      <a:solidFill>
                        <a:srgbClr val="E3E8F0"/>
                      </a:solidFill>
                      <a:prstDash val="solid"/>
                      <a:round/>
                      <a:headEnd type="none" w="med" len="med"/>
                      <a:tailEnd type="none" w="med" len="med"/>
                    </a:lnT>
                    <a:lnB w="6350" cap="flat" cmpd="sng" algn="ctr">
                      <a:solidFill>
                        <a:srgbClr val="E3E8F0"/>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B2436"/>
                          </a:solidFill>
                        </a:rPr>
                        <a:t>1309</a:t>
                      </a:r>
                      <a:endParaRPr lang="en-US" sz="1000" dirty="0"/>
                    </a:p>
                  </a:txBody>
                  <a:tcPr marL="91440" marR="91440" marT="45720" marB="45720">
                    <a:lnL w="6350" cap="flat" cmpd="sng" algn="ctr">
                      <a:solidFill>
                        <a:srgbClr val="E3E8F0"/>
                      </a:solidFill>
                      <a:prstDash val="solid"/>
                      <a:round/>
                      <a:headEnd type="none" w="med" len="med"/>
                      <a:tailEnd type="none" w="med" len="med"/>
                    </a:lnL>
                    <a:lnR w="6350" cap="flat" cmpd="sng" algn="ctr">
                      <a:solidFill>
                        <a:srgbClr val="E3E8F0"/>
                      </a:solidFill>
                      <a:prstDash val="solid"/>
                      <a:round/>
                      <a:headEnd type="none" w="med" len="med"/>
                      <a:tailEnd type="none" w="med" len="med"/>
                    </a:lnR>
                    <a:lnT w="6350" cap="flat" cmpd="sng" algn="ctr">
                      <a:solidFill>
                        <a:srgbClr val="E3E8F0"/>
                      </a:solidFill>
                      <a:prstDash val="solid"/>
                      <a:round/>
                      <a:headEnd type="none" w="med" len="med"/>
                      <a:tailEnd type="none" w="med" len="med"/>
                    </a:lnT>
                    <a:lnB w="6350" cap="flat" cmpd="sng" algn="ctr">
                      <a:solidFill>
                        <a:srgbClr val="E3E8F0"/>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B2436"/>
                          </a:solidFill>
                        </a:rPr>
                        <a:t>1</a:t>
                      </a:r>
                      <a:endParaRPr lang="en-US" sz="1000" dirty="0"/>
                    </a:p>
                  </a:txBody>
                  <a:tcPr marL="91440" marR="91440" marT="45720" marB="45720">
                    <a:lnL w="6350" cap="flat" cmpd="sng" algn="ctr">
                      <a:solidFill>
                        <a:srgbClr val="E3E8F0"/>
                      </a:solidFill>
                      <a:prstDash val="solid"/>
                      <a:round/>
                      <a:headEnd type="none" w="med" len="med"/>
                      <a:tailEnd type="none" w="med" len="med"/>
                    </a:lnL>
                    <a:lnR w="6350" cap="flat" cmpd="sng" algn="ctr">
                      <a:solidFill>
                        <a:srgbClr val="E3E8F0"/>
                      </a:solidFill>
                      <a:prstDash val="solid"/>
                      <a:round/>
                      <a:headEnd type="none" w="med" len="med"/>
                      <a:tailEnd type="none" w="med" len="med"/>
                    </a:lnR>
                    <a:lnT w="6350" cap="flat" cmpd="sng" algn="ctr">
                      <a:solidFill>
                        <a:srgbClr val="E3E8F0"/>
                      </a:solidFill>
                      <a:prstDash val="solid"/>
                      <a:round/>
                      <a:headEnd type="none" w="med" len="med"/>
                      <a:tailEnd type="none" w="med" len="med"/>
                    </a:lnT>
                    <a:lnB w="6350" cap="flat" cmpd="sng" algn="ctr">
                      <a:solidFill>
                        <a:srgbClr val="E3E8F0"/>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B2436"/>
                          </a:solidFill>
                        </a:rPr>
                        <a:t>0.785</a:t>
                      </a:r>
                      <a:endParaRPr lang="en-US" sz="1000" dirty="0"/>
                    </a:p>
                  </a:txBody>
                  <a:tcPr marL="91440" marR="91440" marT="45720" marB="45720">
                    <a:lnL w="6350" cap="flat" cmpd="sng" algn="ctr">
                      <a:solidFill>
                        <a:srgbClr val="E3E8F0"/>
                      </a:solidFill>
                      <a:prstDash val="solid"/>
                      <a:round/>
                      <a:headEnd type="none" w="med" len="med"/>
                      <a:tailEnd type="none" w="med" len="med"/>
                    </a:lnL>
                    <a:lnR w="6350" cap="flat" cmpd="sng" algn="ctr">
                      <a:solidFill>
                        <a:srgbClr val="E3E8F0"/>
                      </a:solidFill>
                      <a:prstDash val="solid"/>
                      <a:round/>
                      <a:headEnd type="none" w="med" len="med"/>
                      <a:tailEnd type="none" w="med" len="med"/>
                    </a:lnR>
                    <a:lnT w="6350" cap="flat" cmpd="sng" algn="ctr">
                      <a:solidFill>
                        <a:srgbClr val="E3E8F0"/>
                      </a:solidFill>
                      <a:prstDash val="solid"/>
                      <a:round/>
                      <a:headEnd type="none" w="med" len="med"/>
                      <a:tailEnd type="none" w="med" len="med"/>
                    </a:lnT>
                    <a:lnB w="6350" cap="flat" cmpd="sng" algn="ctr">
                      <a:solidFill>
                        <a:srgbClr val="E3E8F0"/>
                      </a:solidFill>
                      <a:prstDash val="solid"/>
                      <a:round/>
                      <a:headEnd type="none" w="med" len="med"/>
                      <a:tailEnd type="none" w="med" len="med"/>
                    </a:lnB>
                    <a:solidFill>
                      <a:srgbClr val="FFFFFF"/>
                    </a:solidFill>
                  </a:tcPr>
                </a:tc>
              </a:tr>
              <a:tr h="448887">
                <a:tc>
                  <a:txBody>
                    <a:bodyPr/>
                    <a:lstStyle/>
                    <a:p>
                      <a:pPr indent="0" marL="0">
                        <a:buNone/>
                      </a:pPr>
                      <a:r>
                        <a:rPr lang="en-US" sz="1000" b="1" dirty="0">
                          <a:solidFill>
                            <a:srgbClr val="1B2436"/>
                          </a:solidFill>
                        </a:rPr>
                        <a:t>Kpendjal</a:t>
                      </a:r>
                      <a:endParaRPr lang="en-US" sz="1000" dirty="0"/>
                    </a:p>
                  </a:txBody>
                  <a:tcPr marL="91440" marR="91440" marT="45720" marB="45720">
                    <a:lnL w="6350" cap="flat" cmpd="sng" algn="ctr">
                      <a:solidFill>
                        <a:srgbClr val="E3E8F0"/>
                      </a:solidFill>
                      <a:prstDash val="solid"/>
                      <a:round/>
                      <a:headEnd type="none" w="med" len="med"/>
                      <a:tailEnd type="none" w="med" len="med"/>
                    </a:lnL>
                    <a:lnR w="6350" cap="flat" cmpd="sng" algn="ctr">
                      <a:solidFill>
                        <a:srgbClr val="E3E8F0"/>
                      </a:solidFill>
                      <a:prstDash val="solid"/>
                      <a:round/>
                      <a:headEnd type="none" w="med" len="med"/>
                      <a:tailEnd type="none" w="med" len="med"/>
                    </a:lnR>
                    <a:lnT w="6350" cap="flat" cmpd="sng" algn="ctr">
                      <a:solidFill>
                        <a:srgbClr val="E3E8F0"/>
                      </a:solidFill>
                      <a:prstDash val="solid"/>
                      <a:round/>
                      <a:headEnd type="none" w="med" len="med"/>
                      <a:tailEnd type="none" w="med" len="med"/>
                    </a:lnT>
                    <a:lnB w="6350" cap="flat" cmpd="sng" algn="ctr">
                      <a:solidFill>
                        <a:srgbClr val="E3E8F0"/>
                      </a:solidFill>
                      <a:prstDash val="solid"/>
                      <a:round/>
                      <a:headEnd type="none" w="med" len="med"/>
                      <a:tailEnd type="none" w="med" len="med"/>
                    </a:lnB>
                    <a:solidFill>
                      <a:srgbClr val="FDF1EC"/>
                    </a:solidFill>
                  </a:tcPr>
                </a:tc>
                <a:tc>
                  <a:txBody>
                    <a:bodyPr/>
                    <a:lstStyle/>
                    <a:p>
                      <a:pPr algn="r" indent="0" marL="0">
                        <a:buNone/>
                      </a:pPr>
                      <a:r>
                        <a:rPr lang="en-US" sz="1000" dirty="0">
                          <a:solidFill>
                            <a:srgbClr val="1B2436"/>
                          </a:solidFill>
                        </a:rPr>
                        <a:t>226 277</a:t>
                      </a:r>
                      <a:endParaRPr lang="en-US" sz="1000" dirty="0"/>
                    </a:p>
                  </a:txBody>
                  <a:tcPr marL="91440" marR="91440" marT="45720" marB="45720">
                    <a:lnL w="6350" cap="flat" cmpd="sng" algn="ctr">
                      <a:solidFill>
                        <a:srgbClr val="E3E8F0"/>
                      </a:solidFill>
                      <a:prstDash val="solid"/>
                      <a:round/>
                      <a:headEnd type="none" w="med" len="med"/>
                      <a:tailEnd type="none" w="med" len="med"/>
                    </a:lnL>
                    <a:lnR w="6350" cap="flat" cmpd="sng" algn="ctr">
                      <a:solidFill>
                        <a:srgbClr val="E3E8F0"/>
                      </a:solidFill>
                      <a:prstDash val="solid"/>
                      <a:round/>
                      <a:headEnd type="none" w="med" len="med"/>
                      <a:tailEnd type="none" w="med" len="med"/>
                    </a:lnR>
                    <a:lnT w="6350" cap="flat" cmpd="sng" algn="ctr">
                      <a:solidFill>
                        <a:srgbClr val="E3E8F0"/>
                      </a:solidFill>
                      <a:prstDash val="solid"/>
                      <a:round/>
                      <a:headEnd type="none" w="med" len="med"/>
                      <a:tailEnd type="none" w="med" len="med"/>
                    </a:lnT>
                    <a:lnB w="6350" cap="flat" cmpd="sng" algn="ctr">
                      <a:solidFill>
                        <a:srgbClr val="E3E8F0"/>
                      </a:solidFill>
                      <a:prstDash val="solid"/>
                      <a:round/>
                      <a:headEnd type="none" w="med" len="med"/>
                      <a:tailEnd type="none" w="med" len="med"/>
                    </a:lnB>
                    <a:solidFill>
                      <a:srgbClr val="FDF1EC"/>
                    </a:solidFill>
                  </a:tcPr>
                </a:tc>
                <a:tc>
                  <a:txBody>
                    <a:bodyPr/>
                    <a:lstStyle/>
                    <a:p>
                      <a:pPr algn="r" indent="0" marL="0">
                        <a:buNone/>
                      </a:pPr>
                      <a:r>
                        <a:rPr lang="en-US" sz="1000" dirty="0">
                          <a:solidFill>
                            <a:srgbClr val="1B2436"/>
                          </a:solidFill>
                        </a:rPr>
                        <a:t>168</a:t>
                      </a:r>
                      <a:endParaRPr lang="en-US" sz="1000" dirty="0"/>
                    </a:p>
                  </a:txBody>
                  <a:tcPr marL="91440" marR="91440" marT="45720" marB="45720">
                    <a:lnL w="6350" cap="flat" cmpd="sng" algn="ctr">
                      <a:solidFill>
                        <a:srgbClr val="E3E8F0"/>
                      </a:solidFill>
                      <a:prstDash val="solid"/>
                      <a:round/>
                      <a:headEnd type="none" w="med" len="med"/>
                      <a:tailEnd type="none" w="med" len="med"/>
                    </a:lnL>
                    <a:lnR w="6350" cap="flat" cmpd="sng" algn="ctr">
                      <a:solidFill>
                        <a:srgbClr val="E3E8F0"/>
                      </a:solidFill>
                      <a:prstDash val="solid"/>
                      <a:round/>
                      <a:headEnd type="none" w="med" len="med"/>
                      <a:tailEnd type="none" w="med" len="med"/>
                    </a:lnR>
                    <a:lnT w="6350" cap="flat" cmpd="sng" algn="ctr">
                      <a:solidFill>
                        <a:srgbClr val="E3E8F0"/>
                      </a:solidFill>
                      <a:prstDash val="solid"/>
                      <a:round/>
                      <a:headEnd type="none" w="med" len="med"/>
                      <a:tailEnd type="none" w="med" len="med"/>
                    </a:lnT>
                    <a:lnB w="6350" cap="flat" cmpd="sng" algn="ctr">
                      <a:solidFill>
                        <a:srgbClr val="E3E8F0"/>
                      </a:solidFill>
                      <a:prstDash val="solid"/>
                      <a:round/>
                      <a:headEnd type="none" w="med" len="med"/>
                      <a:tailEnd type="none" w="med" len="med"/>
                    </a:lnB>
                    <a:solidFill>
                      <a:srgbClr val="FDF1EC"/>
                    </a:solidFill>
                  </a:tcPr>
                </a:tc>
                <a:tc>
                  <a:txBody>
                    <a:bodyPr/>
                    <a:lstStyle/>
                    <a:p>
                      <a:pPr algn="r" indent="0" marL="0">
                        <a:buNone/>
                      </a:pPr>
                      <a:r>
                        <a:rPr lang="en-US" sz="1000" dirty="0">
                          <a:solidFill>
                            <a:srgbClr val="1B2436"/>
                          </a:solidFill>
                        </a:rPr>
                        <a:t>0</a:t>
                      </a:r>
                      <a:endParaRPr lang="en-US" sz="1000" dirty="0"/>
                    </a:p>
                  </a:txBody>
                  <a:tcPr marL="91440" marR="91440" marT="45720" marB="45720">
                    <a:lnL w="6350" cap="flat" cmpd="sng" algn="ctr">
                      <a:solidFill>
                        <a:srgbClr val="E3E8F0"/>
                      </a:solidFill>
                      <a:prstDash val="solid"/>
                      <a:round/>
                      <a:headEnd type="none" w="med" len="med"/>
                      <a:tailEnd type="none" w="med" len="med"/>
                    </a:lnL>
                    <a:lnR w="6350" cap="flat" cmpd="sng" algn="ctr">
                      <a:solidFill>
                        <a:srgbClr val="E3E8F0"/>
                      </a:solidFill>
                      <a:prstDash val="solid"/>
                      <a:round/>
                      <a:headEnd type="none" w="med" len="med"/>
                      <a:tailEnd type="none" w="med" len="med"/>
                    </a:lnR>
                    <a:lnT w="6350" cap="flat" cmpd="sng" algn="ctr">
                      <a:solidFill>
                        <a:srgbClr val="E3E8F0"/>
                      </a:solidFill>
                      <a:prstDash val="solid"/>
                      <a:round/>
                      <a:headEnd type="none" w="med" len="med"/>
                      <a:tailEnd type="none" w="med" len="med"/>
                    </a:lnT>
                    <a:lnB w="6350" cap="flat" cmpd="sng" algn="ctr">
                      <a:solidFill>
                        <a:srgbClr val="E3E8F0"/>
                      </a:solidFill>
                      <a:prstDash val="solid"/>
                      <a:round/>
                      <a:headEnd type="none" w="med" len="med"/>
                      <a:tailEnd type="none" w="med" len="med"/>
                    </a:lnB>
                    <a:solidFill>
                      <a:srgbClr val="FDF1EC"/>
                    </a:solidFill>
                  </a:tcPr>
                </a:tc>
                <a:tc>
                  <a:txBody>
                    <a:bodyPr/>
                    <a:lstStyle/>
                    <a:p>
                      <a:pPr algn="r" indent="0" marL="0">
                        <a:buNone/>
                      </a:pPr>
                      <a:r>
                        <a:rPr lang="en-US" sz="1000" dirty="0">
                          <a:solidFill>
                            <a:srgbClr val="1B2436"/>
                          </a:solidFill>
                        </a:rPr>
                        <a:t>0.783</a:t>
                      </a:r>
                      <a:endParaRPr lang="en-US" sz="1000" dirty="0"/>
                    </a:p>
                  </a:txBody>
                  <a:tcPr marL="91440" marR="91440" marT="45720" marB="45720">
                    <a:lnL w="6350" cap="flat" cmpd="sng" algn="ctr">
                      <a:solidFill>
                        <a:srgbClr val="E3E8F0"/>
                      </a:solidFill>
                      <a:prstDash val="solid"/>
                      <a:round/>
                      <a:headEnd type="none" w="med" len="med"/>
                      <a:tailEnd type="none" w="med" len="med"/>
                    </a:lnL>
                    <a:lnR w="6350" cap="flat" cmpd="sng" algn="ctr">
                      <a:solidFill>
                        <a:srgbClr val="E3E8F0"/>
                      </a:solidFill>
                      <a:prstDash val="solid"/>
                      <a:round/>
                      <a:headEnd type="none" w="med" len="med"/>
                      <a:tailEnd type="none" w="med" len="med"/>
                    </a:lnR>
                    <a:lnT w="6350" cap="flat" cmpd="sng" algn="ctr">
                      <a:solidFill>
                        <a:srgbClr val="E3E8F0"/>
                      </a:solidFill>
                      <a:prstDash val="solid"/>
                      <a:round/>
                      <a:headEnd type="none" w="med" len="med"/>
                      <a:tailEnd type="none" w="med" len="med"/>
                    </a:lnT>
                    <a:lnB w="6350" cap="flat" cmpd="sng" algn="ctr">
                      <a:solidFill>
                        <a:srgbClr val="E3E8F0"/>
                      </a:solidFill>
                      <a:prstDash val="solid"/>
                      <a:round/>
                      <a:headEnd type="none" w="med" len="med"/>
                      <a:tailEnd type="none" w="med" len="med"/>
                    </a:lnB>
                    <a:solidFill>
                      <a:srgbClr val="FDF1EC"/>
                    </a:solidFill>
                  </a:tcPr>
                </a:tc>
              </a:tr>
              <a:tr h="448887">
                <a:tc>
                  <a:txBody>
                    <a:bodyPr/>
                    <a:lstStyle/>
                    <a:p>
                      <a:pPr indent="0" marL="0">
                        <a:buNone/>
                      </a:pPr>
                      <a:r>
                        <a:rPr lang="en-US" sz="1000" b="1" dirty="0">
                          <a:solidFill>
                            <a:srgbClr val="1B2436"/>
                          </a:solidFill>
                        </a:rPr>
                        <a:t>Yoto</a:t>
                      </a:r>
                      <a:endParaRPr lang="en-US" sz="1000" dirty="0"/>
                    </a:p>
                  </a:txBody>
                  <a:tcPr marL="91440" marR="91440" marT="45720" marB="45720">
                    <a:lnL w="6350" cap="flat" cmpd="sng" algn="ctr">
                      <a:solidFill>
                        <a:srgbClr val="E3E8F0"/>
                      </a:solidFill>
                      <a:prstDash val="solid"/>
                      <a:round/>
                      <a:headEnd type="none" w="med" len="med"/>
                      <a:tailEnd type="none" w="med" len="med"/>
                    </a:lnL>
                    <a:lnR w="6350" cap="flat" cmpd="sng" algn="ctr">
                      <a:solidFill>
                        <a:srgbClr val="E3E8F0"/>
                      </a:solidFill>
                      <a:prstDash val="solid"/>
                      <a:round/>
                      <a:headEnd type="none" w="med" len="med"/>
                      <a:tailEnd type="none" w="med" len="med"/>
                    </a:lnR>
                    <a:lnT w="6350" cap="flat" cmpd="sng" algn="ctr">
                      <a:solidFill>
                        <a:srgbClr val="E3E8F0"/>
                      </a:solidFill>
                      <a:prstDash val="solid"/>
                      <a:round/>
                      <a:headEnd type="none" w="med" len="med"/>
                      <a:tailEnd type="none" w="med" len="med"/>
                    </a:lnT>
                    <a:lnB w="6350" cap="flat" cmpd="sng" algn="ctr">
                      <a:solidFill>
                        <a:srgbClr val="E3E8F0"/>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B2436"/>
                          </a:solidFill>
                        </a:rPr>
                        <a:t>216 080</a:t>
                      </a:r>
                      <a:endParaRPr lang="en-US" sz="1000" dirty="0"/>
                    </a:p>
                  </a:txBody>
                  <a:tcPr marL="91440" marR="91440" marT="45720" marB="45720">
                    <a:lnL w="6350" cap="flat" cmpd="sng" algn="ctr">
                      <a:solidFill>
                        <a:srgbClr val="E3E8F0"/>
                      </a:solidFill>
                      <a:prstDash val="solid"/>
                      <a:round/>
                      <a:headEnd type="none" w="med" len="med"/>
                      <a:tailEnd type="none" w="med" len="med"/>
                    </a:lnL>
                    <a:lnR w="6350" cap="flat" cmpd="sng" algn="ctr">
                      <a:solidFill>
                        <a:srgbClr val="E3E8F0"/>
                      </a:solidFill>
                      <a:prstDash val="solid"/>
                      <a:round/>
                      <a:headEnd type="none" w="med" len="med"/>
                      <a:tailEnd type="none" w="med" len="med"/>
                    </a:lnR>
                    <a:lnT w="6350" cap="flat" cmpd="sng" algn="ctr">
                      <a:solidFill>
                        <a:srgbClr val="E3E8F0"/>
                      </a:solidFill>
                      <a:prstDash val="solid"/>
                      <a:round/>
                      <a:headEnd type="none" w="med" len="med"/>
                      <a:tailEnd type="none" w="med" len="med"/>
                    </a:lnT>
                    <a:lnB w="6350" cap="flat" cmpd="sng" algn="ctr">
                      <a:solidFill>
                        <a:srgbClr val="E3E8F0"/>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B2436"/>
                          </a:solidFill>
                        </a:rPr>
                        <a:t>169</a:t>
                      </a:r>
                      <a:endParaRPr lang="en-US" sz="1000" dirty="0"/>
                    </a:p>
                  </a:txBody>
                  <a:tcPr marL="91440" marR="91440" marT="45720" marB="45720">
                    <a:lnL w="6350" cap="flat" cmpd="sng" algn="ctr">
                      <a:solidFill>
                        <a:srgbClr val="E3E8F0"/>
                      </a:solidFill>
                      <a:prstDash val="solid"/>
                      <a:round/>
                      <a:headEnd type="none" w="med" len="med"/>
                      <a:tailEnd type="none" w="med" len="med"/>
                    </a:lnL>
                    <a:lnR w="6350" cap="flat" cmpd="sng" algn="ctr">
                      <a:solidFill>
                        <a:srgbClr val="E3E8F0"/>
                      </a:solidFill>
                      <a:prstDash val="solid"/>
                      <a:round/>
                      <a:headEnd type="none" w="med" len="med"/>
                      <a:tailEnd type="none" w="med" len="med"/>
                    </a:lnR>
                    <a:lnT w="6350" cap="flat" cmpd="sng" algn="ctr">
                      <a:solidFill>
                        <a:srgbClr val="E3E8F0"/>
                      </a:solidFill>
                      <a:prstDash val="solid"/>
                      <a:round/>
                      <a:headEnd type="none" w="med" len="med"/>
                      <a:tailEnd type="none" w="med" len="med"/>
                    </a:lnT>
                    <a:lnB w="6350" cap="flat" cmpd="sng" algn="ctr">
                      <a:solidFill>
                        <a:srgbClr val="E3E8F0"/>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B2436"/>
                          </a:solidFill>
                        </a:rPr>
                        <a:t>0</a:t>
                      </a:r>
                      <a:endParaRPr lang="en-US" sz="1000" dirty="0"/>
                    </a:p>
                  </a:txBody>
                  <a:tcPr marL="91440" marR="91440" marT="45720" marB="45720">
                    <a:lnL w="6350" cap="flat" cmpd="sng" algn="ctr">
                      <a:solidFill>
                        <a:srgbClr val="E3E8F0"/>
                      </a:solidFill>
                      <a:prstDash val="solid"/>
                      <a:round/>
                      <a:headEnd type="none" w="med" len="med"/>
                      <a:tailEnd type="none" w="med" len="med"/>
                    </a:lnL>
                    <a:lnR w="6350" cap="flat" cmpd="sng" algn="ctr">
                      <a:solidFill>
                        <a:srgbClr val="E3E8F0"/>
                      </a:solidFill>
                      <a:prstDash val="solid"/>
                      <a:round/>
                      <a:headEnd type="none" w="med" len="med"/>
                      <a:tailEnd type="none" w="med" len="med"/>
                    </a:lnR>
                    <a:lnT w="6350" cap="flat" cmpd="sng" algn="ctr">
                      <a:solidFill>
                        <a:srgbClr val="E3E8F0"/>
                      </a:solidFill>
                      <a:prstDash val="solid"/>
                      <a:round/>
                      <a:headEnd type="none" w="med" len="med"/>
                      <a:tailEnd type="none" w="med" len="med"/>
                    </a:lnT>
                    <a:lnB w="6350" cap="flat" cmpd="sng" algn="ctr">
                      <a:solidFill>
                        <a:srgbClr val="E3E8F0"/>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B2436"/>
                          </a:solidFill>
                        </a:rPr>
                        <a:t>0.775</a:t>
                      </a:r>
                      <a:endParaRPr lang="en-US" sz="1000" dirty="0"/>
                    </a:p>
                  </a:txBody>
                  <a:tcPr marL="91440" marR="91440" marT="45720" marB="45720">
                    <a:lnL w="6350" cap="flat" cmpd="sng" algn="ctr">
                      <a:solidFill>
                        <a:srgbClr val="E3E8F0"/>
                      </a:solidFill>
                      <a:prstDash val="solid"/>
                      <a:round/>
                      <a:headEnd type="none" w="med" len="med"/>
                      <a:tailEnd type="none" w="med" len="med"/>
                    </a:lnL>
                    <a:lnR w="6350" cap="flat" cmpd="sng" algn="ctr">
                      <a:solidFill>
                        <a:srgbClr val="E3E8F0"/>
                      </a:solidFill>
                      <a:prstDash val="solid"/>
                      <a:round/>
                      <a:headEnd type="none" w="med" len="med"/>
                      <a:tailEnd type="none" w="med" len="med"/>
                    </a:lnR>
                    <a:lnT w="6350" cap="flat" cmpd="sng" algn="ctr">
                      <a:solidFill>
                        <a:srgbClr val="E3E8F0"/>
                      </a:solidFill>
                      <a:prstDash val="solid"/>
                      <a:round/>
                      <a:headEnd type="none" w="med" len="med"/>
                      <a:tailEnd type="none" w="med" len="med"/>
                    </a:lnT>
                    <a:lnB w="6350" cap="flat" cmpd="sng" algn="ctr">
                      <a:solidFill>
                        <a:srgbClr val="E3E8F0"/>
                      </a:solidFill>
                      <a:prstDash val="solid"/>
                      <a:round/>
                      <a:headEnd type="none" w="med" len="med"/>
                      <a:tailEnd type="none" w="med" len="med"/>
                    </a:lnB>
                    <a:solidFill>
                      <a:srgbClr val="FFFFFF"/>
                    </a:solidFill>
                  </a:tcPr>
                </a:tc>
              </a:tr>
              <a:tr h="448887">
                <a:tc>
                  <a:txBody>
                    <a:bodyPr/>
                    <a:lstStyle/>
                    <a:p>
                      <a:pPr indent="0" marL="0">
                        <a:buNone/>
                      </a:pPr>
                      <a:r>
                        <a:rPr lang="en-US" sz="1000" b="1" dirty="0">
                          <a:solidFill>
                            <a:srgbClr val="1B2436"/>
                          </a:solidFill>
                        </a:rPr>
                        <a:t>Est-Mono</a:t>
                      </a:r>
                      <a:endParaRPr lang="en-US" sz="1000" dirty="0"/>
                    </a:p>
                  </a:txBody>
                  <a:tcPr marL="91440" marR="91440" marT="45720" marB="45720">
                    <a:lnL w="6350" cap="flat" cmpd="sng" algn="ctr">
                      <a:solidFill>
                        <a:srgbClr val="E3E8F0"/>
                      </a:solidFill>
                      <a:prstDash val="solid"/>
                      <a:round/>
                      <a:headEnd type="none" w="med" len="med"/>
                      <a:tailEnd type="none" w="med" len="med"/>
                    </a:lnL>
                    <a:lnR w="6350" cap="flat" cmpd="sng" algn="ctr">
                      <a:solidFill>
                        <a:srgbClr val="E3E8F0"/>
                      </a:solidFill>
                      <a:prstDash val="solid"/>
                      <a:round/>
                      <a:headEnd type="none" w="med" len="med"/>
                      <a:tailEnd type="none" w="med" len="med"/>
                    </a:lnR>
                    <a:lnT w="6350" cap="flat" cmpd="sng" algn="ctr">
                      <a:solidFill>
                        <a:srgbClr val="E3E8F0"/>
                      </a:solidFill>
                      <a:prstDash val="solid"/>
                      <a:round/>
                      <a:headEnd type="none" w="med" len="med"/>
                      <a:tailEnd type="none" w="med" len="med"/>
                    </a:lnT>
                    <a:lnB w="6350" cap="flat" cmpd="sng" algn="ctr">
                      <a:solidFill>
                        <a:srgbClr val="E3E8F0"/>
                      </a:solidFill>
                      <a:prstDash val="solid"/>
                      <a:round/>
                      <a:headEnd type="none" w="med" len="med"/>
                      <a:tailEnd type="none" w="med" len="med"/>
                    </a:lnB>
                    <a:solidFill>
                      <a:srgbClr val="FDF1EC"/>
                    </a:solidFill>
                  </a:tcPr>
                </a:tc>
                <a:tc>
                  <a:txBody>
                    <a:bodyPr/>
                    <a:lstStyle/>
                    <a:p>
                      <a:pPr algn="r" indent="0" marL="0">
                        <a:buNone/>
                      </a:pPr>
                      <a:r>
                        <a:rPr lang="en-US" sz="1000" dirty="0">
                          <a:solidFill>
                            <a:srgbClr val="1B2436"/>
                          </a:solidFill>
                        </a:rPr>
                        <a:t>204 781</a:t>
                      </a:r>
                      <a:endParaRPr lang="en-US" sz="1000" dirty="0"/>
                    </a:p>
                  </a:txBody>
                  <a:tcPr marL="91440" marR="91440" marT="45720" marB="45720">
                    <a:lnL w="6350" cap="flat" cmpd="sng" algn="ctr">
                      <a:solidFill>
                        <a:srgbClr val="E3E8F0"/>
                      </a:solidFill>
                      <a:prstDash val="solid"/>
                      <a:round/>
                      <a:headEnd type="none" w="med" len="med"/>
                      <a:tailEnd type="none" w="med" len="med"/>
                    </a:lnL>
                    <a:lnR w="6350" cap="flat" cmpd="sng" algn="ctr">
                      <a:solidFill>
                        <a:srgbClr val="E3E8F0"/>
                      </a:solidFill>
                      <a:prstDash val="solid"/>
                      <a:round/>
                      <a:headEnd type="none" w="med" len="med"/>
                      <a:tailEnd type="none" w="med" len="med"/>
                    </a:lnR>
                    <a:lnT w="6350" cap="flat" cmpd="sng" algn="ctr">
                      <a:solidFill>
                        <a:srgbClr val="E3E8F0"/>
                      </a:solidFill>
                      <a:prstDash val="solid"/>
                      <a:round/>
                      <a:headEnd type="none" w="med" len="med"/>
                      <a:tailEnd type="none" w="med" len="med"/>
                    </a:lnT>
                    <a:lnB w="6350" cap="flat" cmpd="sng" algn="ctr">
                      <a:solidFill>
                        <a:srgbClr val="E3E8F0"/>
                      </a:solidFill>
                      <a:prstDash val="solid"/>
                      <a:round/>
                      <a:headEnd type="none" w="med" len="med"/>
                      <a:tailEnd type="none" w="med" len="med"/>
                    </a:lnB>
                    <a:solidFill>
                      <a:srgbClr val="FDF1EC"/>
                    </a:solidFill>
                  </a:tcPr>
                </a:tc>
                <a:tc>
                  <a:txBody>
                    <a:bodyPr/>
                    <a:lstStyle/>
                    <a:p>
                      <a:pPr algn="r" indent="0" marL="0">
                        <a:buNone/>
                      </a:pPr>
                      <a:r>
                        <a:rPr lang="en-US" sz="1000" dirty="0">
                          <a:solidFill>
                            <a:srgbClr val="1B2436"/>
                          </a:solidFill>
                        </a:rPr>
                        <a:t>163</a:t>
                      </a:r>
                      <a:endParaRPr lang="en-US" sz="1000" dirty="0"/>
                    </a:p>
                  </a:txBody>
                  <a:tcPr marL="91440" marR="91440" marT="45720" marB="45720">
                    <a:lnL w="6350" cap="flat" cmpd="sng" algn="ctr">
                      <a:solidFill>
                        <a:srgbClr val="E3E8F0"/>
                      </a:solidFill>
                      <a:prstDash val="solid"/>
                      <a:round/>
                      <a:headEnd type="none" w="med" len="med"/>
                      <a:tailEnd type="none" w="med" len="med"/>
                    </a:lnL>
                    <a:lnR w="6350" cap="flat" cmpd="sng" algn="ctr">
                      <a:solidFill>
                        <a:srgbClr val="E3E8F0"/>
                      </a:solidFill>
                      <a:prstDash val="solid"/>
                      <a:round/>
                      <a:headEnd type="none" w="med" len="med"/>
                      <a:tailEnd type="none" w="med" len="med"/>
                    </a:lnR>
                    <a:lnT w="6350" cap="flat" cmpd="sng" algn="ctr">
                      <a:solidFill>
                        <a:srgbClr val="E3E8F0"/>
                      </a:solidFill>
                      <a:prstDash val="solid"/>
                      <a:round/>
                      <a:headEnd type="none" w="med" len="med"/>
                      <a:tailEnd type="none" w="med" len="med"/>
                    </a:lnT>
                    <a:lnB w="6350" cap="flat" cmpd="sng" algn="ctr">
                      <a:solidFill>
                        <a:srgbClr val="E3E8F0"/>
                      </a:solidFill>
                      <a:prstDash val="solid"/>
                      <a:round/>
                      <a:headEnd type="none" w="med" len="med"/>
                      <a:tailEnd type="none" w="med" len="med"/>
                    </a:lnB>
                    <a:solidFill>
                      <a:srgbClr val="FDF1EC"/>
                    </a:solidFill>
                  </a:tcPr>
                </a:tc>
                <a:tc>
                  <a:txBody>
                    <a:bodyPr/>
                    <a:lstStyle/>
                    <a:p>
                      <a:pPr algn="r" indent="0" marL="0">
                        <a:buNone/>
                      </a:pPr>
                      <a:r>
                        <a:rPr lang="en-US" sz="1000" dirty="0">
                          <a:solidFill>
                            <a:srgbClr val="1B2436"/>
                          </a:solidFill>
                        </a:rPr>
                        <a:t>0</a:t>
                      </a:r>
                      <a:endParaRPr lang="en-US" sz="1000" dirty="0"/>
                    </a:p>
                  </a:txBody>
                  <a:tcPr marL="91440" marR="91440" marT="45720" marB="45720">
                    <a:lnL w="6350" cap="flat" cmpd="sng" algn="ctr">
                      <a:solidFill>
                        <a:srgbClr val="E3E8F0"/>
                      </a:solidFill>
                      <a:prstDash val="solid"/>
                      <a:round/>
                      <a:headEnd type="none" w="med" len="med"/>
                      <a:tailEnd type="none" w="med" len="med"/>
                    </a:lnL>
                    <a:lnR w="6350" cap="flat" cmpd="sng" algn="ctr">
                      <a:solidFill>
                        <a:srgbClr val="E3E8F0"/>
                      </a:solidFill>
                      <a:prstDash val="solid"/>
                      <a:round/>
                      <a:headEnd type="none" w="med" len="med"/>
                      <a:tailEnd type="none" w="med" len="med"/>
                    </a:lnR>
                    <a:lnT w="6350" cap="flat" cmpd="sng" algn="ctr">
                      <a:solidFill>
                        <a:srgbClr val="E3E8F0"/>
                      </a:solidFill>
                      <a:prstDash val="solid"/>
                      <a:round/>
                      <a:headEnd type="none" w="med" len="med"/>
                      <a:tailEnd type="none" w="med" len="med"/>
                    </a:lnT>
                    <a:lnB w="6350" cap="flat" cmpd="sng" algn="ctr">
                      <a:solidFill>
                        <a:srgbClr val="E3E8F0"/>
                      </a:solidFill>
                      <a:prstDash val="solid"/>
                      <a:round/>
                      <a:headEnd type="none" w="med" len="med"/>
                      <a:tailEnd type="none" w="med" len="med"/>
                    </a:lnB>
                    <a:solidFill>
                      <a:srgbClr val="FDF1EC"/>
                    </a:solidFill>
                  </a:tcPr>
                </a:tc>
                <a:tc>
                  <a:txBody>
                    <a:bodyPr/>
                    <a:lstStyle/>
                    <a:p>
                      <a:pPr algn="r" indent="0" marL="0">
                        <a:buNone/>
                      </a:pPr>
                      <a:r>
                        <a:rPr lang="en-US" sz="1000" dirty="0">
                          <a:solidFill>
                            <a:srgbClr val="1B2436"/>
                          </a:solidFill>
                        </a:rPr>
                        <a:t>0.769</a:t>
                      </a:r>
                      <a:endParaRPr lang="en-US" sz="1000" dirty="0"/>
                    </a:p>
                  </a:txBody>
                  <a:tcPr marL="91440" marR="91440" marT="45720" marB="45720">
                    <a:lnL w="6350" cap="flat" cmpd="sng" algn="ctr">
                      <a:solidFill>
                        <a:srgbClr val="E3E8F0"/>
                      </a:solidFill>
                      <a:prstDash val="solid"/>
                      <a:round/>
                      <a:headEnd type="none" w="med" len="med"/>
                      <a:tailEnd type="none" w="med" len="med"/>
                    </a:lnL>
                    <a:lnR w="6350" cap="flat" cmpd="sng" algn="ctr">
                      <a:solidFill>
                        <a:srgbClr val="E3E8F0"/>
                      </a:solidFill>
                      <a:prstDash val="solid"/>
                      <a:round/>
                      <a:headEnd type="none" w="med" len="med"/>
                      <a:tailEnd type="none" w="med" len="med"/>
                    </a:lnR>
                    <a:lnT w="6350" cap="flat" cmpd="sng" algn="ctr">
                      <a:solidFill>
                        <a:srgbClr val="E3E8F0"/>
                      </a:solidFill>
                      <a:prstDash val="solid"/>
                      <a:round/>
                      <a:headEnd type="none" w="med" len="med"/>
                      <a:tailEnd type="none" w="med" len="med"/>
                    </a:lnT>
                    <a:lnB w="6350" cap="flat" cmpd="sng" algn="ctr">
                      <a:solidFill>
                        <a:srgbClr val="E3E8F0"/>
                      </a:solidFill>
                      <a:prstDash val="solid"/>
                      <a:round/>
                      <a:headEnd type="none" w="med" len="med"/>
                      <a:tailEnd type="none" w="med" len="med"/>
                    </a:lnB>
                    <a:solidFill>
                      <a:srgbClr val="FDF1EC"/>
                    </a:solidFill>
                  </a:tcPr>
                </a:tc>
              </a:tr>
              <a:tr h="448887">
                <a:tc>
                  <a:txBody>
                    <a:bodyPr/>
                    <a:lstStyle/>
                    <a:p>
                      <a:pPr indent="0" marL="0">
                        <a:buNone/>
                      </a:pPr>
                      <a:r>
                        <a:rPr lang="en-US" sz="1000" b="1" dirty="0">
                          <a:solidFill>
                            <a:srgbClr val="1B2436"/>
                          </a:solidFill>
                        </a:rPr>
                        <a:t>Oti</a:t>
                      </a:r>
                      <a:endParaRPr lang="en-US" sz="1000" dirty="0"/>
                    </a:p>
                  </a:txBody>
                  <a:tcPr marL="91440" marR="91440" marT="45720" marB="45720">
                    <a:lnL w="6350" cap="flat" cmpd="sng" algn="ctr">
                      <a:solidFill>
                        <a:srgbClr val="E3E8F0"/>
                      </a:solidFill>
                      <a:prstDash val="solid"/>
                      <a:round/>
                      <a:headEnd type="none" w="med" len="med"/>
                      <a:tailEnd type="none" w="med" len="med"/>
                    </a:lnL>
                    <a:lnR w="6350" cap="flat" cmpd="sng" algn="ctr">
                      <a:solidFill>
                        <a:srgbClr val="E3E8F0"/>
                      </a:solidFill>
                      <a:prstDash val="solid"/>
                      <a:round/>
                      <a:headEnd type="none" w="med" len="med"/>
                      <a:tailEnd type="none" w="med" len="med"/>
                    </a:lnR>
                    <a:lnT w="6350" cap="flat" cmpd="sng" algn="ctr">
                      <a:solidFill>
                        <a:srgbClr val="E3E8F0"/>
                      </a:solidFill>
                      <a:prstDash val="solid"/>
                      <a:round/>
                      <a:headEnd type="none" w="med" len="med"/>
                      <a:tailEnd type="none" w="med" len="med"/>
                    </a:lnT>
                    <a:lnB w="6350" cap="flat" cmpd="sng" algn="ctr">
                      <a:solidFill>
                        <a:srgbClr val="E3E8F0"/>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B2436"/>
                          </a:solidFill>
                        </a:rPr>
                        <a:t>351 891</a:t>
                      </a:r>
                      <a:endParaRPr lang="en-US" sz="1000" dirty="0"/>
                    </a:p>
                  </a:txBody>
                  <a:tcPr marL="91440" marR="91440" marT="45720" marB="45720">
                    <a:lnL w="6350" cap="flat" cmpd="sng" algn="ctr">
                      <a:solidFill>
                        <a:srgbClr val="E3E8F0"/>
                      </a:solidFill>
                      <a:prstDash val="solid"/>
                      <a:round/>
                      <a:headEnd type="none" w="med" len="med"/>
                      <a:tailEnd type="none" w="med" len="med"/>
                    </a:lnL>
                    <a:lnR w="6350" cap="flat" cmpd="sng" algn="ctr">
                      <a:solidFill>
                        <a:srgbClr val="E3E8F0"/>
                      </a:solidFill>
                      <a:prstDash val="solid"/>
                      <a:round/>
                      <a:headEnd type="none" w="med" len="med"/>
                      <a:tailEnd type="none" w="med" len="med"/>
                    </a:lnR>
                    <a:lnT w="6350" cap="flat" cmpd="sng" algn="ctr">
                      <a:solidFill>
                        <a:srgbClr val="E3E8F0"/>
                      </a:solidFill>
                      <a:prstDash val="solid"/>
                      <a:round/>
                      <a:headEnd type="none" w="med" len="med"/>
                      <a:tailEnd type="none" w="med" len="med"/>
                    </a:lnT>
                    <a:lnB w="6350" cap="flat" cmpd="sng" algn="ctr">
                      <a:solidFill>
                        <a:srgbClr val="E3E8F0"/>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B2436"/>
                          </a:solidFill>
                        </a:rPr>
                        <a:t>534</a:t>
                      </a:r>
                      <a:endParaRPr lang="en-US" sz="1000" dirty="0"/>
                    </a:p>
                  </a:txBody>
                  <a:tcPr marL="91440" marR="91440" marT="45720" marB="45720">
                    <a:lnL w="6350" cap="flat" cmpd="sng" algn="ctr">
                      <a:solidFill>
                        <a:srgbClr val="E3E8F0"/>
                      </a:solidFill>
                      <a:prstDash val="solid"/>
                      <a:round/>
                      <a:headEnd type="none" w="med" len="med"/>
                      <a:tailEnd type="none" w="med" len="med"/>
                    </a:lnL>
                    <a:lnR w="6350" cap="flat" cmpd="sng" algn="ctr">
                      <a:solidFill>
                        <a:srgbClr val="E3E8F0"/>
                      </a:solidFill>
                      <a:prstDash val="solid"/>
                      <a:round/>
                      <a:headEnd type="none" w="med" len="med"/>
                      <a:tailEnd type="none" w="med" len="med"/>
                    </a:lnR>
                    <a:lnT w="6350" cap="flat" cmpd="sng" algn="ctr">
                      <a:solidFill>
                        <a:srgbClr val="E3E8F0"/>
                      </a:solidFill>
                      <a:prstDash val="solid"/>
                      <a:round/>
                      <a:headEnd type="none" w="med" len="med"/>
                      <a:tailEnd type="none" w="med" len="med"/>
                    </a:lnT>
                    <a:lnB w="6350" cap="flat" cmpd="sng" algn="ctr">
                      <a:solidFill>
                        <a:srgbClr val="E3E8F0"/>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B2436"/>
                          </a:solidFill>
                        </a:rPr>
                        <a:t>0</a:t>
                      </a:r>
                      <a:endParaRPr lang="en-US" sz="1000" dirty="0"/>
                    </a:p>
                  </a:txBody>
                  <a:tcPr marL="91440" marR="91440" marT="45720" marB="45720">
                    <a:lnL w="6350" cap="flat" cmpd="sng" algn="ctr">
                      <a:solidFill>
                        <a:srgbClr val="E3E8F0"/>
                      </a:solidFill>
                      <a:prstDash val="solid"/>
                      <a:round/>
                      <a:headEnd type="none" w="med" len="med"/>
                      <a:tailEnd type="none" w="med" len="med"/>
                    </a:lnL>
                    <a:lnR w="6350" cap="flat" cmpd="sng" algn="ctr">
                      <a:solidFill>
                        <a:srgbClr val="E3E8F0"/>
                      </a:solidFill>
                      <a:prstDash val="solid"/>
                      <a:round/>
                      <a:headEnd type="none" w="med" len="med"/>
                      <a:tailEnd type="none" w="med" len="med"/>
                    </a:lnR>
                    <a:lnT w="6350" cap="flat" cmpd="sng" algn="ctr">
                      <a:solidFill>
                        <a:srgbClr val="E3E8F0"/>
                      </a:solidFill>
                      <a:prstDash val="solid"/>
                      <a:round/>
                      <a:headEnd type="none" w="med" len="med"/>
                      <a:tailEnd type="none" w="med" len="med"/>
                    </a:lnT>
                    <a:lnB w="6350" cap="flat" cmpd="sng" algn="ctr">
                      <a:solidFill>
                        <a:srgbClr val="E3E8F0"/>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B2436"/>
                          </a:solidFill>
                        </a:rPr>
                        <a:t>0.767</a:t>
                      </a:r>
                      <a:endParaRPr lang="en-US" sz="1000" dirty="0"/>
                    </a:p>
                  </a:txBody>
                  <a:tcPr marL="91440" marR="91440" marT="45720" marB="45720">
                    <a:lnL w="6350" cap="flat" cmpd="sng" algn="ctr">
                      <a:solidFill>
                        <a:srgbClr val="E3E8F0"/>
                      </a:solidFill>
                      <a:prstDash val="solid"/>
                      <a:round/>
                      <a:headEnd type="none" w="med" len="med"/>
                      <a:tailEnd type="none" w="med" len="med"/>
                    </a:lnL>
                    <a:lnR w="6350" cap="flat" cmpd="sng" algn="ctr">
                      <a:solidFill>
                        <a:srgbClr val="E3E8F0"/>
                      </a:solidFill>
                      <a:prstDash val="solid"/>
                      <a:round/>
                      <a:headEnd type="none" w="med" len="med"/>
                      <a:tailEnd type="none" w="med" len="med"/>
                    </a:lnR>
                    <a:lnT w="6350" cap="flat" cmpd="sng" algn="ctr">
                      <a:solidFill>
                        <a:srgbClr val="E3E8F0"/>
                      </a:solidFill>
                      <a:prstDash val="solid"/>
                      <a:round/>
                      <a:headEnd type="none" w="med" len="med"/>
                      <a:tailEnd type="none" w="med" len="med"/>
                    </a:lnT>
                    <a:lnB w="6350" cap="flat" cmpd="sng" algn="ctr">
                      <a:solidFill>
                        <a:srgbClr val="E3E8F0"/>
                      </a:solidFill>
                      <a:prstDash val="solid"/>
                      <a:round/>
                      <a:headEnd type="none" w="med" len="med"/>
                      <a:tailEnd type="none" w="med" len="med"/>
                    </a:lnB>
                    <a:solidFill>
                      <a:srgbClr val="FFFFFF"/>
                    </a:solidFill>
                  </a:tcPr>
                </a:tc>
              </a:tr>
              <a:tr h="448887">
                <a:tc>
                  <a:txBody>
                    <a:bodyPr/>
                    <a:lstStyle/>
                    <a:p>
                      <a:pPr indent="0" marL="0">
                        <a:buNone/>
                      </a:pPr>
                      <a:r>
                        <a:rPr lang="en-US" sz="1000" b="1" dirty="0">
                          <a:solidFill>
                            <a:srgbClr val="1B2436"/>
                          </a:solidFill>
                        </a:rPr>
                        <a:t>Anié</a:t>
                      </a:r>
                      <a:endParaRPr lang="en-US" sz="1000" dirty="0"/>
                    </a:p>
                  </a:txBody>
                  <a:tcPr marL="91440" marR="91440" marT="45720" marB="45720">
                    <a:lnL w="6350" cap="flat" cmpd="sng" algn="ctr">
                      <a:solidFill>
                        <a:srgbClr val="E3E8F0"/>
                      </a:solidFill>
                      <a:prstDash val="solid"/>
                      <a:round/>
                      <a:headEnd type="none" w="med" len="med"/>
                      <a:tailEnd type="none" w="med" len="med"/>
                    </a:lnL>
                    <a:lnR w="6350" cap="flat" cmpd="sng" algn="ctr">
                      <a:solidFill>
                        <a:srgbClr val="E3E8F0"/>
                      </a:solidFill>
                      <a:prstDash val="solid"/>
                      <a:round/>
                      <a:headEnd type="none" w="med" len="med"/>
                      <a:tailEnd type="none" w="med" len="med"/>
                    </a:lnR>
                    <a:lnT w="6350" cap="flat" cmpd="sng" algn="ctr">
                      <a:solidFill>
                        <a:srgbClr val="E3E8F0"/>
                      </a:solidFill>
                      <a:prstDash val="solid"/>
                      <a:round/>
                      <a:headEnd type="none" w="med" len="med"/>
                      <a:tailEnd type="none" w="med" len="med"/>
                    </a:lnT>
                    <a:lnB w="6350" cap="flat" cmpd="sng" algn="ctr">
                      <a:solidFill>
                        <a:srgbClr val="E3E8F0"/>
                      </a:solidFill>
                      <a:prstDash val="solid"/>
                      <a:round/>
                      <a:headEnd type="none" w="med" len="med"/>
                      <a:tailEnd type="none" w="med" len="med"/>
                    </a:lnB>
                    <a:solidFill>
                      <a:srgbClr val="FDF1EC"/>
                    </a:solidFill>
                  </a:tcPr>
                </a:tc>
                <a:tc>
                  <a:txBody>
                    <a:bodyPr/>
                    <a:lstStyle/>
                    <a:p>
                      <a:pPr algn="r" indent="0" marL="0">
                        <a:buNone/>
                      </a:pPr>
                      <a:r>
                        <a:rPr lang="en-US" sz="1000" dirty="0">
                          <a:solidFill>
                            <a:srgbClr val="1B2436"/>
                          </a:solidFill>
                        </a:rPr>
                        <a:t>259 217</a:t>
                      </a:r>
                      <a:endParaRPr lang="en-US" sz="1000" dirty="0"/>
                    </a:p>
                  </a:txBody>
                  <a:tcPr marL="91440" marR="91440" marT="45720" marB="45720">
                    <a:lnL w="6350" cap="flat" cmpd="sng" algn="ctr">
                      <a:solidFill>
                        <a:srgbClr val="E3E8F0"/>
                      </a:solidFill>
                      <a:prstDash val="solid"/>
                      <a:round/>
                      <a:headEnd type="none" w="med" len="med"/>
                      <a:tailEnd type="none" w="med" len="med"/>
                    </a:lnL>
                    <a:lnR w="6350" cap="flat" cmpd="sng" algn="ctr">
                      <a:solidFill>
                        <a:srgbClr val="E3E8F0"/>
                      </a:solidFill>
                      <a:prstDash val="solid"/>
                      <a:round/>
                      <a:headEnd type="none" w="med" len="med"/>
                      <a:tailEnd type="none" w="med" len="med"/>
                    </a:lnR>
                    <a:lnT w="6350" cap="flat" cmpd="sng" algn="ctr">
                      <a:solidFill>
                        <a:srgbClr val="E3E8F0"/>
                      </a:solidFill>
                      <a:prstDash val="solid"/>
                      <a:round/>
                      <a:headEnd type="none" w="med" len="med"/>
                      <a:tailEnd type="none" w="med" len="med"/>
                    </a:lnT>
                    <a:lnB w="6350" cap="flat" cmpd="sng" algn="ctr">
                      <a:solidFill>
                        <a:srgbClr val="E3E8F0"/>
                      </a:solidFill>
                      <a:prstDash val="solid"/>
                      <a:round/>
                      <a:headEnd type="none" w="med" len="med"/>
                      <a:tailEnd type="none" w="med" len="med"/>
                    </a:lnB>
                    <a:solidFill>
                      <a:srgbClr val="FDF1EC"/>
                    </a:solidFill>
                  </a:tcPr>
                </a:tc>
                <a:tc>
                  <a:txBody>
                    <a:bodyPr/>
                    <a:lstStyle/>
                    <a:p>
                      <a:pPr algn="r" indent="0" marL="0">
                        <a:buNone/>
                      </a:pPr>
                      <a:r>
                        <a:rPr lang="en-US" sz="1000" dirty="0">
                          <a:solidFill>
                            <a:srgbClr val="1B2436"/>
                          </a:solidFill>
                        </a:rPr>
                        <a:t>297</a:t>
                      </a:r>
                      <a:endParaRPr lang="en-US" sz="1000" dirty="0"/>
                    </a:p>
                  </a:txBody>
                  <a:tcPr marL="91440" marR="91440" marT="45720" marB="45720">
                    <a:lnL w="6350" cap="flat" cmpd="sng" algn="ctr">
                      <a:solidFill>
                        <a:srgbClr val="E3E8F0"/>
                      </a:solidFill>
                      <a:prstDash val="solid"/>
                      <a:round/>
                      <a:headEnd type="none" w="med" len="med"/>
                      <a:tailEnd type="none" w="med" len="med"/>
                    </a:lnL>
                    <a:lnR w="6350" cap="flat" cmpd="sng" algn="ctr">
                      <a:solidFill>
                        <a:srgbClr val="E3E8F0"/>
                      </a:solidFill>
                      <a:prstDash val="solid"/>
                      <a:round/>
                      <a:headEnd type="none" w="med" len="med"/>
                      <a:tailEnd type="none" w="med" len="med"/>
                    </a:lnR>
                    <a:lnT w="6350" cap="flat" cmpd="sng" algn="ctr">
                      <a:solidFill>
                        <a:srgbClr val="E3E8F0"/>
                      </a:solidFill>
                      <a:prstDash val="solid"/>
                      <a:round/>
                      <a:headEnd type="none" w="med" len="med"/>
                      <a:tailEnd type="none" w="med" len="med"/>
                    </a:lnT>
                    <a:lnB w="6350" cap="flat" cmpd="sng" algn="ctr">
                      <a:solidFill>
                        <a:srgbClr val="E3E8F0"/>
                      </a:solidFill>
                      <a:prstDash val="solid"/>
                      <a:round/>
                      <a:headEnd type="none" w="med" len="med"/>
                      <a:tailEnd type="none" w="med" len="med"/>
                    </a:lnB>
                    <a:solidFill>
                      <a:srgbClr val="FDF1EC"/>
                    </a:solidFill>
                  </a:tcPr>
                </a:tc>
                <a:tc>
                  <a:txBody>
                    <a:bodyPr/>
                    <a:lstStyle/>
                    <a:p>
                      <a:pPr algn="r" indent="0" marL="0">
                        <a:buNone/>
                      </a:pPr>
                      <a:r>
                        <a:rPr lang="en-US" sz="1000" dirty="0">
                          <a:solidFill>
                            <a:srgbClr val="1B2436"/>
                          </a:solidFill>
                        </a:rPr>
                        <a:t>0</a:t>
                      </a:r>
                      <a:endParaRPr lang="en-US" sz="1000" dirty="0"/>
                    </a:p>
                  </a:txBody>
                  <a:tcPr marL="91440" marR="91440" marT="45720" marB="45720">
                    <a:lnL w="6350" cap="flat" cmpd="sng" algn="ctr">
                      <a:solidFill>
                        <a:srgbClr val="E3E8F0"/>
                      </a:solidFill>
                      <a:prstDash val="solid"/>
                      <a:round/>
                      <a:headEnd type="none" w="med" len="med"/>
                      <a:tailEnd type="none" w="med" len="med"/>
                    </a:lnL>
                    <a:lnR w="6350" cap="flat" cmpd="sng" algn="ctr">
                      <a:solidFill>
                        <a:srgbClr val="E3E8F0"/>
                      </a:solidFill>
                      <a:prstDash val="solid"/>
                      <a:round/>
                      <a:headEnd type="none" w="med" len="med"/>
                      <a:tailEnd type="none" w="med" len="med"/>
                    </a:lnR>
                    <a:lnT w="6350" cap="flat" cmpd="sng" algn="ctr">
                      <a:solidFill>
                        <a:srgbClr val="E3E8F0"/>
                      </a:solidFill>
                      <a:prstDash val="solid"/>
                      <a:round/>
                      <a:headEnd type="none" w="med" len="med"/>
                      <a:tailEnd type="none" w="med" len="med"/>
                    </a:lnT>
                    <a:lnB w="6350" cap="flat" cmpd="sng" algn="ctr">
                      <a:solidFill>
                        <a:srgbClr val="E3E8F0"/>
                      </a:solidFill>
                      <a:prstDash val="solid"/>
                      <a:round/>
                      <a:headEnd type="none" w="med" len="med"/>
                      <a:tailEnd type="none" w="med" len="med"/>
                    </a:lnB>
                    <a:solidFill>
                      <a:srgbClr val="FDF1EC"/>
                    </a:solidFill>
                  </a:tcPr>
                </a:tc>
                <a:tc>
                  <a:txBody>
                    <a:bodyPr/>
                    <a:lstStyle/>
                    <a:p>
                      <a:pPr algn="r" indent="0" marL="0">
                        <a:buNone/>
                      </a:pPr>
                      <a:r>
                        <a:rPr lang="en-US" sz="1000" dirty="0">
                          <a:solidFill>
                            <a:srgbClr val="1B2436"/>
                          </a:solidFill>
                        </a:rPr>
                        <a:t>0.765</a:t>
                      </a:r>
                      <a:endParaRPr lang="en-US" sz="1000" dirty="0"/>
                    </a:p>
                  </a:txBody>
                  <a:tcPr marL="91440" marR="91440" marT="45720" marB="45720">
                    <a:lnL w="6350" cap="flat" cmpd="sng" algn="ctr">
                      <a:solidFill>
                        <a:srgbClr val="E3E8F0"/>
                      </a:solidFill>
                      <a:prstDash val="solid"/>
                      <a:round/>
                      <a:headEnd type="none" w="med" len="med"/>
                      <a:tailEnd type="none" w="med" len="med"/>
                    </a:lnL>
                    <a:lnR w="6350" cap="flat" cmpd="sng" algn="ctr">
                      <a:solidFill>
                        <a:srgbClr val="E3E8F0"/>
                      </a:solidFill>
                      <a:prstDash val="solid"/>
                      <a:round/>
                      <a:headEnd type="none" w="med" len="med"/>
                      <a:tailEnd type="none" w="med" len="med"/>
                    </a:lnR>
                    <a:lnT w="6350" cap="flat" cmpd="sng" algn="ctr">
                      <a:solidFill>
                        <a:srgbClr val="E3E8F0"/>
                      </a:solidFill>
                      <a:prstDash val="solid"/>
                      <a:round/>
                      <a:headEnd type="none" w="med" len="med"/>
                      <a:tailEnd type="none" w="med" len="med"/>
                    </a:lnT>
                    <a:lnB w="6350" cap="flat" cmpd="sng" algn="ctr">
                      <a:solidFill>
                        <a:srgbClr val="E3E8F0"/>
                      </a:solidFill>
                      <a:prstDash val="solid"/>
                      <a:round/>
                      <a:headEnd type="none" w="med" len="med"/>
                      <a:tailEnd type="none" w="med" len="med"/>
                    </a:lnB>
                    <a:solidFill>
                      <a:srgbClr val="FDF1EC"/>
                    </a:solidFill>
                  </a:tcPr>
                </a:tc>
              </a:tr>
            </a:tbl>
          </a:graphicData>
        </a:graphic>
      </p:graphicFrame>
      <p:sp>
        <p:nvSpPr>
          <p:cNvPr id="6" name="Text 2"/>
          <p:cNvSpPr/>
          <p:nvPr/>
        </p:nvSpPr>
        <p:spPr>
          <a:xfrm>
            <a:off x="457200" y="6537960"/>
            <a:ext cx="7315200" cy="274320"/>
          </a:xfrm>
          <a:prstGeom prst="rect">
            <a:avLst/>
          </a:prstGeom>
          <a:noFill/>
          <a:ln/>
        </p:spPr>
        <p:txBody>
          <a:bodyPr wrap="square" rtlCol="0" anchor="ctr"/>
          <a:lstStyle/>
          <a:p>
            <a:pPr indent="0" marL="0">
              <a:buNone/>
            </a:pPr>
            <a:r>
              <a:rPr lang="en-US" sz="900" dirty="0">
                <a:solidFill>
                  <a:srgbClr val="6B7893"/>
                </a:solidFill>
              </a:rPr>
              <a:t>Togo Digital Access — Diagnostic télécoms &amp; inclusion numérique</a:t>
            </a:r>
            <a:endParaRPr lang="en-US" sz="900" dirty="0"/>
          </a:p>
        </p:txBody>
      </p:sp>
      <p:sp>
        <p:nvSpPr>
          <p:cNvPr id="7" name="Text 3"/>
          <p:cNvSpPr/>
          <p:nvPr/>
        </p:nvSpPr>
        <p:spPr>
          <a:xfrm>
            <a:off x="11338560" y="6537960"/>
            <a:ext cx="548640" cy="274320"/>
          </a:xfrm>
          <a:prstGeom prst="rect">
            <a:avLst/>
          </a:prstGeom>
          <a:noFill/>
          <a:ln/>
        </p:spPr>
        <p:txBody>
          <a:bodyPr wrap="square" rtlCol="0" anchor="ctr"/>
          <a:lstStyle/>
          <a:p>
            <a:pPr algn="r" indent="0" marL="0">
              <a:buNone/>
            </a:pPr>
            <a:r>
              <a:rPr lang="en-US" sz="900" dirty="0">
                <a:solidFill>
                  <a:srgbClr val="6B7893"/>
                </a:solidFill>
              </a:rPr>
              <a:t>5 / 10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457200" y="320040"/>
            <a:ext cx="7315200" cy="274320"/>
          </a:xfrm>
          <a:prstGeom prst="rect">
            <a:avLst/>
          </a:prstGeom>
          <a:noFill/>
          <a:ln/>
        </p:spPr>
        <p:txBody>
          <a:bodyPr wrap="square" rtlCol="0" anchor="ctr"/>
          <a:lstStyle/>
          <a:p>
            <a:pPr indent="0" marL="0">
              <a:buNone/>
            </a:pPr>
            <a:r>
              <a:rPr lang="en-US" sz="1200" b="1" spc="200" kern="0" dirty="0">
                <a:solidFill>
                  <a:srgbClr val="F7931E"/>
                </a:solidFill>
              </a:rPr>
              <a:t>SERVICES NUMÉRIQUES</a:t>
            </a:r>
            <a:endParaRPr lang="en-US" sz="1200" dirty="0"/>
          </a:p>
        </p:txBody>
      </p:sp>
      <p:sp>
        <p:nvSpPr>
          <p:cNvPr id="3" name="Text 1"/>
          <p:cNvSpPr/>
          <p:nvPr/>
        </p:nvSpPr>
        <p:spPr>
          <a:xfrm>
            <a:off x="457200" y="566928"/>
            <a:ext cx="11247120" cy="640080"/>
          </a:xfrm>
          <a:prstGeom prst="rect">
            <a:avLst/>
          </a:prstGeom>
          <a:noFill/>
          <a:ln/>
        </p:spPr>
        <p:txBody>
          <a:bodyPr wrap="square" rtlCol="0" anchor="ctr"/>
          <a:lstStyle/>
          <a:p>
            <a:pPr indent="0" marL="0">
              <a:buNone/>
            </a:pPr>
            <a:r>
              <a:rPr lang="en-US" sz="2800" b="1" dirty="0">
                <a:solidFill>
                  <a:srgbClr val="1B2436"/>
                </a:solidFill>
                <a:latin typeface="Cambria" pitchFamily="34" charset="0"/>
                <a:ea typeface="Cambria" pitchFamily="34" charset="-122"/>
                <a:cs typeface="Cambria" pitchFamily="34" charset="-120"/>
              </a:rPr>
              <a:t>Mobile Money : le canal le plus décentralisé</a:t>
            </a:r>
            <a:endParaRPr lang="en-US" sz="2800" dirty="0"/>
          </a:p>
        </p:txBody>
      </p:sp>
      <p:pic>
        <p:nvPicPr>
          <p:cNvPr id="4" name="Image 0" descr="/home/claude/extracted/Togo_Digital_Access/presentation/assets/bar_mm_faible.png">    </p:cNvPr>
          <p:cNvPicPr>
            <a:picLocks noChangeAspect="1"/>
          </p:cNvPicPr>
          <p:nvPr/>
        </p:nvPicPr>
        <p:blipFill>
          <a:blip r:embed="rId1"/>
          <a:stretch>
            <a:fillRect/>
          </a:stretch>
        </p:blipFill>
        <p:spPr>
          <a:xfrm>
            <a:off x="457200" y="1417320"/>
            <a:ext cx="5760720" cy="4754880"/>
          </a:xfrm>
          <a:prstGeom prst="rect">
            <a:avLst/>
          </a:prstGeom>
        </p:spPr>
      </p:pic>
      <p:sp>
        <p:nvSpPr>
          <p:cNvPr id="5" name="Text 2"/>
          <p:cNvSpPr/>
          <p:nvPr/>
        </p:nvSpPr>
        <p:spPr>
          <a:xfrm>
            <a:off x="6400800" y="1645920"/>
            <a:ext cx="5303520" cy="2011680"/>
          </a:xfrm>
          <a:prstGeom prst="rect">
            <a:avLst/>
          </a:prstGeom>
          <a:noFill/>
          <a:ln/>
        </p:spPr>
        <p:txBody>
          <a:bodyPr wrap="square" rtlCol="0" anchor="ctr"/>
          <a:lstStyle/>
          <a:p>
            <a:pPr indent="0" marL="0">
              <a:lnSpc>
                <a:spcPct val="130000"/>
              </a:lnSpc>
              <a:buNone/>
            </a:pPr>
            <a:r>
              <a:rPr lang="en-US" sz="1350" dirty="0">
                <a:solidFill>
                  <a:srgbClr val="1B2436"/>
                </a:solidFill>
              </a:rPr>
              <a:t>Avec 19 619 agents actifs, le Mobile Money atteint les 5 régions du pays — contrairement aux agences opérateurs, très concentrées. Mais l'écart entre préfectures reste important : les moins dotées cumulent souvent une population significative avec moins de 5 agents pour 10 000 habitants.</a:t>
            </a:r>
            <a:endParaRPr lang="en-US" sz="1350" dirty="0"/>
          </a:p>
        </p:txBody>
      </p:sp>
      <p:sp>
        <p:nvSpPr>
          <p:cNvPr id="6" name="Shape 3"/>
          <p:cNvSpPr/>
          <p:nvPr/>
        </p:nvSpPr>
        <p:spPr>
          <a:xfrm>
            <a:off x="6400800" y="3931920"/>
            <a:ext cx="5303520" cy="2194560"/>
          </a:xfrm>
          <a:prstGeom prst="roundRect">
            <a:avLst>
              <a:gd name="adj" fmla="val 3333"/>
            </a:avLst>
          </a:prstGeom>
          <a:solidFill>
            <a:srgbClr val="FFFFFF"/>
          </a:solidFill>
          <a:ln w="12700">
            <a:solidFill>
              <a:srgbClr val="E3E8F0"/>
            </a:solidFill>
            <a:prstDash val="solid"/>
          </a:ln>
        </p:spPr>
      </p:sp>
      <p:sp>
        <p:nvSpPr>
          <p:cNvPr id="7" name="Text 4"/>
          <p:cNvSpPr/>
          <p:nvPr/>
        </p:nvSpPr>
        <p:spPr>
          <a:xfrm>
            <a:off x="6629400" y="4114800"/>
            <a:ext cx="4846320" cy="320040"/>
          </a:xfrm>
          <a:prstGeom prst="rect">
            <a:avLst/>
          </a:prstGeom>
          <a:noFill/>
          <a:ln/>
        </p:spPr>
        <p:txBody>
          <a:bodyPr wrap="square" rtlCol="0" anchor="ctr"/>
          <a:lstStyle/>
          <a:p>
            <a:pPr indent="0" marL="0">
              <a:buNone/>
            </a:pPr>
            <a:r>
              <a:rPr lang="en-US" sz="1300" b="1" dirty="0">
                <a:solidFill>
                  <a:srgbClr val="1C7293"/>
                </a:solidFill>
              </a:rPr>
              <a:t>💡 Lecture stratégique</a:t>
            </a:r>
            <a:endParaRPr lang="en-US" sz="1300" dirty="0"/>
          </a:p>
        </p:txBody>
      </p:sp>
      <p:sp>
        <p:nvSpPr>
          <p:cNvPr id="8" name="Text 5"/>
          <p:cNvSpPr/>
          <p:nvPr/>
        </p:nvSpPr>
        <p:spPr>
          <a:xfrm>
            <a:off x="6629400" y="4434840"/>
            <a:ext cx="4846320" cy="1554480"/>
          </a:xfrm>
          <a:prstGeom prst="rect">
            <a:avLst/>
          </a:prstGeom>
          <a:noFill/>
          <a:ln/>
        </p:spPr>
        <p:txBody>
          <a:bodyPr wrap="square" rtlCol="0" anchor="ctr"/>
          <a:lstStyle/>
          <a:p>
            <a:pPr indent="0" marL="0">
              <a:lnSpc>
                <a:spcPct val="125000"/>
              </a:lnSpc>
              <a:buNone/>
            </a:pPr>
            <a:r>
              <a:rPr lang="en-US" sz="1200" dirty="0">
                <a:solidFill>
                  <a:srgbClr val="1B2436"/>
                </a:solidFill>
              </a:rPr>
              <a:t>Le Mobile Money étant déjà le service le plus répandu, il constitue le levier le plus rapide et le moins coûteux pour étendre l'inclusion financière et numérique dans les préfectures à faible couverture d'agences physiques.</a:t>
            </a:r>
            <a:endParaRPr lang="en-US" sz="1200" dirty="0"/>
          </a:p>
        </p:txBody>
      </p:sp>
      <p:sp>
        <p:nvSpPr>
          <p:cNvPr id="9" name="Text 6"/>
          <p:cNvSpPr/>
          <p:nvPr/>
        </p:nvSpPr>
        <p:spPr>
          <a:xfrm>
            <a:off x="457200" y="6537960"/>
            <a:ext cx="7315200" cy="274320"/>
          </a:xfrm>
          <a:prstGeom prst="rect">
            <a:avLst/>
          </a:prstGeom>
          <a:noFill/>
          <a:ln/>
        </p:spPr>
        <p:txBody>
          <a:bodyPr wrap="square" rtlCol="0" anchor="ctr"/>
          <a:lstStyle/>
          <a:p>
            <a:pPr indent="0" marL="0">
              <a:buNone/>
            </a:pPr>
            <a:r>
              <a:rPr lang="en-US" sz="900" dirty="0">
                <a:solidFill>
                  <a:srgbClr val="6B7893"/>
                </a:solidFill>
              </a:rPr>
              <a:t>Togo Digital Access — Diagnostic télécoms &amp; inclusion numérique</a:t>
            </a:r>
            <a:endParaRPr lang="en-US" sz="900" dirty="0"/>
          </a:p>
        </p:txBody>
      </p:sp>
      <p:sp>
        <p:nvSpPr>
          <p:cNvPr id="10" name="Text 7"/>
          <p:cNvSpPr/>
          <p:nvPr/>
        </p:nvSpPr>
        <p:spPr>
          <a:xfrm>
            <a:off x="11338560" y="6537960"/>
            <a:ext cx="548640" cy="274320"/>
          </a:xfrm>
          <a:prstGeom prst="rect">
            <a:avLst/>
          </a:prstGeom>
          <a:noFill/>
          <a:ln/>
        </p:spPr>
        <p:txBody>
          <a:bodyPr wrap="square" rtlCol="0" anchor="ctr"/>
          <a:lstStyle/>
          <a:p>
            <a:pPr algn="r" indent="0" marL="0">
              <a:buNone/>
            </a:pPr>
            <a:r>
              <a:rPr lang="en-US" sz="900" dirty="0">
                <a:solidFill>
                  <a:srgbClr val="6B7893"/>
                </a:solidFill>
              </a:rPr>
              <a:t>6 / 10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457200" y="320040"/>
            <a:ext cx="7315200" cy="274320"/>
          </a:xfrm>
          <a:prstGeom prst="rect">
            <a:avLst/>
          </a:prstGeom>
          <a:noFill/>
          <a:ln/>
        </p:spPr>
        <p:txBody>
          <a:bodyPr wrap="square" rtlCol="0" anchor="ctr"/>
          <a:lstStyle/>
          <a:p>
            <a:pPr indent="0" marL="0">
              <a:buNone/>
            </a:pPr>
            <a:r>
              <a:rPr lang="en-US" sz="1200" b="1" spc="200" kern="0" dirty="0">
                <a:solidFill>
                  <a:srgbClr val="F7931E"/>
                </a:solidFill>
              </a:rPr>
              <a:t>INFRASTRUCTURE NUMÉRIQUE</a:t>
            </a:r>
            <a:endParaRPr lang="en-US" sz="1200" dirty="0"/>
          </a:p>
        </p:txBody>
      </p:sp>
      <p:sp>
        <p:nvSpPr>
          <p:cNvPr id="3" name="Text 1"/>
          <p:cNvSpPr/>
          <p:nvPr/>
        </p:nvSpPr>
        <p:spPr>
          <a:xfrm>
            <a:off x="457200" y="566928"/>
            <a:ext cx="11247120" cy="640080"/>
          </a:xfrm>
          <a:prstGeom prst="rect">
            <a:avLst/>
          </a:prstGeom>
          <a:noFill/>
          <a:ln/>
        </p:spPr>
        <p:txBody>
          <a:bodyPr wrap="square" rtlCol="0" anchor="ctr"/>
          <a:lstStyle/>
          <a:p>
            <a:pPr indent="0" marL="0">
              <a:buNone/>
            </a:pPr>
            <a:r>
              <a:rPr lang="en-US" sz="2800" b="1" dirty="0">
                <a:solidFill>
                  <a:srgbClr val="1B2436"/>
                </a:solidFill>
                <a:latin typeface="Cambria" pitchFamily="34" charset="0"/>
                <a:ea typeface="Cambria" pitchFamily="34" charset="-122"/>
                <a:cs typeface="Cambria" pitchFamily="34" charset="-120"/>
              </a:rPr>
              <a:t>Datacenters : une concentration à risque</a:t>
            </a:r>
            <a:endParaRPr lang="en-US" sz="2800" dirty="0"/>
          </a:p>
        </p:txBody>
      </p:sp>
      <p:sp>
        <p:nvSpPr>
          <p:cNvPr id="4" name="Shape 2"/>
          <p:cNvSpPr/>
          <p:nvPr/>
        </p:nvSpPr>
        <p:spPr>
          <a:xfrm>
            <a:off x="457200" y="1554480"/>
            <a:ext cx="3291840" cy="4572000"/>
          </a:xfrm>
          <a:prstGeom prst="roundRect">
            <a:avLst>
              <a:gd name="adj" fmla="val 2778"/>
            </a:avLst>
          </a:prstGeom>
          <a:solidFill>
            <a:srgbClr val="12213A"/>
          </a:solidFill>
          <a:ln/>
        </p:spPr>
      </p:sp>
      <p:sp>
        <p:nvSpPr>
          <p:cNvPr id="5" name="Text 3"/>
          <p:cNvSpPr/>
          <p:nvPr/>
        </p:nvSpPr>
        <p:spPr>
          <a:xfrm>
            <a:off x="457200" y="2286000"/>
            <a:ext cx="3291840" cy="1188720"/>
          </a:xfrm>
          <a:prstGeom prst="rect">
            <a:avLst/>
          </a:prstGeom>
          <a:noFill/>
          <a:ln/>
        </p:spPr>
        <p:txBody>
          <a:bodyPr wrap="square" rtlCol="0" anchor="ctr"/>
          <a:lstStyle/>
          <a:p>
            <a:pPr algn="ctr" indent="0" marL="0">
              <a:buNone/>
            </a:pPr>
            <a:r>
              <a:rPr lang="en-US" sz="7200" b="1" dirty="0">
                <a:solidFill>
                  <a:srgbClr val="F7931E"/>
                </a:solidFill>
                <a:latin typeface="Cambria" pitchFamily="34" charset="0"/>
                <a:ea typeface="Cambria" pitchFamily="34" charset="-122"/>
                <a:cs typeface="Cambria" pitchFamily="34" charset="-120"/>
              </a:rPr>
              <a:t>3</a:t>
            </a:r>
            <a:endParaRPr lang="en-US" sz="7200" dirty="0"/>
          </a:p>
        </p:txBody>
      </p:sp>
      <p:sp>
        <p:nvSpPr>
          <p:cNvPr id="6" name="Text 4"/>
          <p:cNvSpPr/>
          <p:nvPr/>
        </p:nvSpPr>
        <p:spPr>
          <a:xfrm>
            <a:off x="640080" y="3520440"/>
            <a:ext cx="2926080" cy="822960"/>
          </a:xfrm>
          <a:prstGeom prst="rect">
            <a:avLst/>
          </a:prstGeom>
          <a:noFill/>
          <a:ln/>
        </p:spPr>
        <p:txBody>
          <a:bodyPr wrap="square" rtlCol="0" anchor="ctr"/>
          <a:lstStyle/>
          <a:p>
            <a:pPr algn="ctr" indent="0" marL="0">
              <a:buNone/>
            </a:pPr>
            <a:r>
              <a:rPr lang="en-US" sz="1400" dirty="0">
                <a:solidFill>
                  <a:srgbClr val="FFFFFF"/>
                </a:solidFill>
              </a:rPr>
              <a:t>datacenters recensés</a:t>
            </a:r>
            <a:endParaRPr lang="en-US" sz="1400" dirty="0"/>
          </a:p>
          <a:p>
            <a:pPr algn="ctr" indent="0" marL="0">
              <a:buNone/>
            </a:pPr>
            <a:r>
              <a:rPr lang="en-US" sz="1400" dirty="0">
                <a:solidFill>
                  <a:srgbClr val="FFFFFF"/>
                </a:solidFill>
              </a:rPr>
              <a:t>sur tout le territoire</a:t>
            </a:r>
            <a:endParaRPr lang="en-US" sz="1400" dirty="0"/>
          </a:p>
        </p:txBody>
      </p:sp>
      <p:sp>
        <p:nvSpPr>
          <p:cNvPr id="7" name="Text 5"/>
          <p:cNvSpPr/>
          <p:nvPr/>
        </p:nvSpPr>
        <p:spPr>
          <a:xfrm>
            <a:off x="640080" y="4937760"/>
            <a:ext cx="2926080" cy="822960"/>
          </a:xfrm>
          <a:prstGeom prst="rect">
            <a:avLst/>
          </a:prstGeom>
          <a:noFill/>
          <a:ln/>
        </p:spPr>
        <p:txBody>
          <a:bodyPr wrap="square" rtlCol="0" anchor="ctr"/>
          <a:lstStyle/>
          <a:p>
            <a:pPr algn="ctr" indent="0" marL="0">
              <a:buNone/>
            </a:pPr>
            <a:r>
              <a:rPr lang="en-US" sz="1300" i="1" dirty="0">
                <a:solidFill>
                  <a:srgbClr val="CADCFC"/>
                </a:solidFill>
              </a:rPr>
              <a:t>100% localisés dans</a:t>
            </a:r>
            <a:endParaRPr lang="en-US" sz="1300" dirty="0"/>
          </a:p>
          <a:p>
            <a:pPr algn="ctr" indent="0" marL="0">
              <a:buNone/>
            </a:pPr>
            <a:r>
              <a:rPr lang="en-US" sz="1300" i="1" dirty="0">
                <a:solidFill>
                  <a:srgbClr val="CADCFC"/>
                </a:solidFill>
              </a:rPr>
              <a:t>la région Maritime (Lomé)</a:t>
            </a:r>
            <a:endParaRPr lang="en-US" sz="1300" dirty="0"/>
          </a:p>
        </p:txBody>
      </p:sp>
      <p:sp>
        <p:nvSpPr>
          <p:cNvPr id="8" name="Shape 6"/>
          <p:cNvSpPr/>
          <p:nvPr/>
        </p:nvSpPr>
        <p:spPr>
          <a:xfrm>
            <a:off x="4023360" y="1691640"/>
            <a:ext cx="7680960" cy="2194560"/>
          </a:xfrm>
          <a:prstGeom prst="roundRect">
            <a:avLst>
              <a:gd name="adj" fmla="val 3333"/>
            </a:avLst>
          </a:prstGeom>
          <a:solidFill>
            <a:srgbClr val="FFFFFF"/>
          </a:solidFill>
          <a:ln w="12700">
            <a:solidFill>
              <a:srgbClr val="E3E8F0"/>
            </a:solidFill>
            <a:prstDash val="solid"/>
          </a:ln>
        </p:spPr>
      </p:sp>
      <p:sp>
        <p:nvSpPr>
          <p:cNvPr id="9" name="Text 7"/>
          <p:cNvSpPr/>
          <p:nvPr/>
        </p:nvSpPr>
        <p:spPr>
          <a:xfrm>
            <a:off x="4251960" y="1874520"/>
            <a:ext cx="7223760" cy="320040"/>
          </a:xfrm>
          <a:prstGeom prst="rect">
            <a:avLst/>
          </a:prstGeom>
          <a:noFill/>
          <a:ln/>
        </p:spPr>
        <p:txBody>
          <a:bodyPr wrap="square" rtlCol="0" anchor="ctr"/>
          <a:lstStyle/>
          <a:p>
            <a:pPr indent="0" marL="0">
              <a:buNone/>
            </a:pPr>
            <a:r>
              <a:rPr lang="en-US" sz="1400" b="1" dirty="0">
                <a:solidFill>
                  <a:srgbClr val="C0392B"/>
                </a:solidFill>
              </a:rPr>
              <a:t>Risque de résilience</a:t>
            </a:r>
            <a:endParaRPr lang="en-US" sz="1400" dirty="0"/>
          </a:p>
        </p:txBody>
      </p:sp>
      <p:sp>
        <p:nvSpPr>
          <p:cNvPr id="10" name="Text 8"/>
          <p:cNvSpPr/>
          <p:nvPr/>
        </p:nvSpPr>
        <p:spPr>
          <a:xfrm>
            <a:off x="4251960" y="2240280"/>
            <a:ext cx="7223760" cy="1554480"/>
          </a:xfrm>
          <a:prstGeom prst="rect">
            <a:avLst/>
          </a:prstGeom>
          <a:noFill/>
          <a:ln/>
        </p:spPr>
        <p:txBody>
          <a:bodyPr wrap="square" rtlCol="0" anchor="ctr"/>
          <a:lstStyle/>
          <a:p>
            <a:pPr indent="0" marL="0">
              <a:lnSpc>
                <a:spcPct val="125000"/>
              </a:lnSpc>
              <a:buNone/>
            </a:pPr>
            <a:r>
              <a:rPr lang="en-US" sz="1200" dirty="0">
                <a:solidFill>
                  <a:srgbClr val="1B2436"/>
                </a:solidFill>
              </a:rPr>
              <a:t>La concentration à 100% des capacités d'hébergement de données dans un rayon de quelques kilomètres à Lomé constitue un point de défaillance unique : coupure réseau, catastrophe naturelle, saturation électrique. Aucune redondance régionale n'existe à ce jour, ce qui expose l'ensemble des services numériques nationaux à un risque de disponibilité concentré.</a:t>
            </a:r>
            <a:endParaRPr lang="en-US" sz="1200" dirty="0"/>
          </a:p>
        </p:txBody>
      </p:sp>
      <p:sp>
        <p:nvSpPr>
          <p:cNvPr id="11" name="Shape 9"/>
          <p:cNvSpPr/>
          <p:nvPr/>
        </p:nvSpPr>
        <p:spPr>
          <a:xfrm>
            <a:off x="4023360" y="4069080"/>
            <a:ext cx="7680960" cy="2057400"/>
          </a:xfrm>
          <a:prstGeom prst="roundRect">
            <a:avLst>
              <a:gd name="adj" fmla="val 3556"/>
            </a:avLst>
          </a:prstGeom>
          <a:solidFill>
            <a:srgbClr val="F0F9F4"/>
          </a:solidFill>
          <a:ln/>
        </p:spPr>
      </p:sp>
      <p:sp>
        <p:nvSpPr>
          <p:cNvPr id="12" name="Text 10"/>
          <p:cNvSpPr/>
          <p:nvPr/>
        </p:nvSpPr>
        <p:spPr>
          <a:xfrm>
            <a:off x="4251960" y="4251960"/>
            <a:ext cx="7223760" cy="274320"/>
          </a:xfrm>
          <a:prstGeom prst="rect">
            <a:avLst/>
          </a:prstGeom>
          <a:noFill/>
          <a:ln/>
        </p:spPr>
        <p:txBody>
          <a:bodyPr wrap="square" rtlCol="0" anchor="ctr"/>
          <a:lstStyle/>
          <a:p>
            <a:pPr indent="0" marL="0">
              <a:buNone/>
            </a:pPr>
            <a:r>
              <a:rPr lang="en-US" sz="1300" b="1" dirty="0">
                <a:solidFill>
                  <a:srgbClr val="166534"/>
                </a:solidFill>
              </a:rPr>
              <a:t>Piste d'action</a:t>
            </a:r>
            <a:endParaRPr lang="en-US" sz="1300" dirty="0"/>
          </a:p>
        </p:txBody>
      </p:sp>
      <p:sp>
        <p:nvSpPr>
          <p:cNvPr id="13" name="Text 11"/>
          <p:cNvSpPr/>
          <p:nvPr/>
        </p:nvSpPr>
        <p:spPr>
          <a:xfrm>
            <a:off x="4251960" y="4572000"/>
            <a:ext cx="7223760" cy="1371600"/>
          </a:xfrm>
          <a:prstGeom prst="rect">
            <a:avLst/>
          </a:prstGeom>
          <a:noFill/>
          <a:ln/>
        </p:spPr>
        <p:txBody>
          <a:bodyPr wrap="square" rtlCol="0" anchor="ctr"/>
          <a:lstStyle/>
          <a:p>
            <a:pPr indent="0" marL="0">
              <a:lnSpc>
                <a:spcPct val="125000"/>
              </a:lnSpc>
              <a:buNone/>
            </a:pPr>
            <a:r>
              <a:rPr lang="en-US" sz="1200" dirty="0">
                <a:solidFill>
                  <a:srgbClr val="1B2436"/>
                </a:solidFill>
              </a:rPr>
              <a:t>Étudier la faisabilité d'une deuxième capacité d'hébergement hors Lomé (ex. Kara ou Sokodé, pôles régionaux secondaires) pour réduire le risque de panne nationale et rapprocher le calcul des usages du Nord du pays.</a:t>
            </a:r>
            <a:endParaRPr lang="en-US" sz="1200" dirty="0"/>
          </a:p>
        </p:txBody>
      </p:sp>
      <p:sp>
        <p:nvSpPr>
          <p:cNvPr id="14" name="Text 12"/>
          <p:cNvSpPr/>
          <p:nvPr/>
        </p:nvSpPr>
        <p:spPr>
          <a:xfrm>
            <a:off x="457200" y="6537960"/>
            <a:ext cx="7315200" cy="274320"/>
          </a:xfrm>
          <a:prstGeom prst="rect">
            <a:avLst/>
          </a:prstGeom>
          <a:noFill/>
          <a:ln/>
        </p:spPr>
        <p:txBody>
          <a:bodyPr wrap="square" rtlCol="0" anchor="ctr"/>
          <a:lstStyle/>
          <a:p>
            <a:pPr indent="0" marL="0">
              <a:buNone/>
            </a:pPr>
            <a:r>
              <a:rPr lang="en-US" sz="900" dirty="0">
                <a:solidFill>
                  <a:srgbClr val="6B7893"/>
                </a:solidFill>
              </a:rPr>
              <a:t>Togo Digital Access — Diagnostic télécoms &amp; inclusion numérique</a:t>
            </a:r>
            <a:endParaRPr lang="en-US" sz="900" dirty="0"/>
          </a:p>
        </p:txBody>
      </p:sp>
      <p:sp>
        <p:nvSpPr>
          <p:cNvPr id="15" name="Text 13"/>
          <p:cNvSpPr/>
          <p:nvPr/>
        </p:nvSpPr>
        <p:spPr>
          <a:xfrm>
            <a:off x="11338560" y="6537960"/>
            <a:ext cx="548640" cy="274320"/>
          </a:xfrm>
          <a:prstGeom prst="rect">
            <a:avLst/>
          </a:prstGeom>
          <a:noFill/>
          <a:ln/>
        </p:spPr>
        <p:txBody>
          <a:bodyPr wrap="square" rtlCol="0" anchor="ctr"/>
          <a:lstStyle/>
          <a:p>
            <a:pPr algn="r" indent="0" marL="0">
              <a:buNone/>
            </a:pPr>
            <a:r>
              <a:rPr lang="en-US" sz="900" dirty="0">
                <a:solidFill>
                  <a:srgbClr val="6B7893"/>
                </a:solidFill>
              </a:rPr>
              <a:t>7 / 10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457200" y="320040"/>
            <a:ext cx="7315200" cy="274320"/>
          </a:xfrm>
          <a:prstGeom prst="rect">
            <a:avLst/>
          </a:prstGeom>
          <a:noFill/>
          <a:ln/>
        </p:spPr>
        <p:txBody>
          <a:bodyPr wrap="square" rtlCol="0" anchor="ctr"/>
          <a:lstStyle/>
          <a:p>
            <a:pPr indent="0" marL="0">
              <a:buNone/>
            </a:pPr>
            <a:r>
              <a:rPr lang="en-US" sz="1200" b="1" spc="200" kern="0" dirty="0">
                <a:solidFill>
                  <a:srgbClr val="F7931E"/>
                </a:solidFill>
              </a:rPr>
              <a:t>LIVRABLE</a:t>
            </a:r>
            <a:endParaRPr lang="en-US" sz="1200" dirty="0"/>
          </a:p>
        </p:txBody>
      </p:sp>
      <p:sp>
        <p:nvSpPr>
          <p:cNvPr id="3" name="Text 1"/>
          <p:cNvSpPr/>
          <p:nvPr/>
        </p:nvSpPr>
        <p:spPr>
          <a:xfrm>
            <a:off x="457200" y="566928"/>
            <a:ext cx="11247120" cy="640080"/>
          </a:xfrm>
          <a:prstGeom prst="rect">
            <a:avLst/>
          </a:prstGeom>
          <a:noFill/>
          <a:ln/>
        </p:spPr>
        <p:txBody>
          <a:bodyPr wrap="square" rtlCol="0" anchor="ctr"/>
          <a:lstStyle/>
          <a:p>
            <a:pPr indent="0" marL="0">
              <a:buNone/>
            </a:pPr>
            <a:r>
              <a:rPr lang="en-US" sz="2800" b="1" dirty="0">
                <a:solidFill>
                  <a:srgbClr val="1B2436"/>
                </a:solidFill>
                <a:latin typeface="Cambria" pitchFamily="34" charset="0"/>
                <a:ea typeface="Cambria" pitchFamily="34" charset="-122"/>
                <a:cs typeface="Cambria" pitchFamily="34" charset="-120"/>
              </a:rPr>
              <a:t>Le dashboard interactif (Streamlit)</a:t>
            </a:r>
            <a:endParaRPr lang="en-US" sz="2800" dirty="0"/>
          </a:p>
        </p:txBody>
      </p:sp>
      <p:sp>
        <p:nvSpPr>
          <p:cNvPr id="4" name="Shape 2"/>
          <p:cNvSpPr/>
          <p:nvPr/>
        </p:nvSpPr>
        <p:spPr>
          <a:xfrm>
            <a:off x="457200" y="1554480"/>
            <a:ext cx="11247120" cy="841248"/>
          </a:xfrm>
          <a:prstGeom prst="roundRect">
            <a:avLst>
              <a:gd name="adj" fmla="val 6522"/>
            </a:avLst>
          </a:prstGeom>
          <a:solidFill>
            <a:srgbClr val="FFFFFF"/>
          </a:solidFill>
          <a:ln w="12700">
            <a:solidFill>
              <a:srgbClr val="E3E8F0"/>
            </a:solidFill>
            <a:prstDash val="solid"/>
          </a:ln>
        </p:spPr>
      </p:sp>
      <p:sp>
        <p:nvSpPr>
          <p:cNvPr id="5" name="Text 3"/>
          <p:cNvSpPr/>
          <p:nvPr/>
        </p:nvSpPr>
        <p:spPr>
          <a:xfrm>
            <a:off x="685800" y="1627632"/>
            <a:ext cx="3017520" cy="685800"/>
          </a:xfrm>
          <a:prstGeom prst="rect">
            <a:avLst/>
          </a:prstGeom>
          <a:noFill/>
          <a:ln/>
        </p:spPr>
        <p:txBody>
          <a:bodyPr wrap="square" rtlCol="0" anchor="ctr"/>
          <a:lstStyle/>
          <a:p>
            <a:pPr indent="0" marL="0">
              <a:buNone/>
            </a:pPr>
            <a:r>
              <a:rPr lang="en-US" sz="1350" b="1" dirty="0">
                <a:solidFill>
                  <a:srgbClr val="1B2436"/>
                </a:solidFill>
              </a:rPr>
              <a:t>🏠 Vue nationale</a:t>
            </a:r>
            <a:endParaRPr lang="en-US" sz="1350" dirty="0"/>
          </a:p>
        </p:txBody>
      </p:sp>
      <p:sp>
        <p:nvSpPr>
          <p:cNvPr id="6" name="Text 4"/>
          <p:cNvSpPr/>
          <p:nvPr/>
        </p:nvSpPr>
        <p:spPr>
          <a:xfrm>
            <a:off x="3749040" y="1627632"/>
            <a:ext cx="7772400" cy="685800"/>
          </a:xfrm>
          <a:prstGeom prst="rect">
            <a:avLst/>
          </a:prstGeom>
          <a:noFill/>
          <a:ln/>
        </p:spPr>
        <p:txBody>
          <a:bodyPr wrap="square" rtlCol="0" anchor="ctr"/>
          <a:lstStyle/>
          <a:p>
            <a:pPr indent="0" marL="0">
              <a:buNone/>
            </a:pPr>
            <a:r>
              <a:rPr lang="en-US" sz="1200" dirty="0">
                <a:solidFill>
                  <a:srgbClr val="6B7893"/>
                </a:solidFill>
              </a:rPr>
              <a:t>KPI globaux, classement des préfectures les plus peuplées, répartition des agences par opérateur</a:t>
            </a:r>
            <a:endParaRPr lang="en-US" sz="1200" dirty="0"/>
          </a:p>
        </p:txBody>
      </p:sp>
      <p:sp>
        <p:nvSpPr>
          <p:cNvPr id="7" name="Shape 5"/>
          <p:cNvSpPr/>
          <p:nvPr/>
        </p:nvSpPr>
        <p:spPr>
          <a:xfrm>
            <a:off x="457200" y="2514600"/>
            <a:ext cx="11247120" cy="841248"/>
          </a:xfrm>
          <a:prstGeom prst="roundRect">
            <a:avLst>
              <a:gd name="adj" fmla="val 6522"/>
            </a:avLst>
          </a:prstGeom>
          <a:solidFill>
            <a:srgbClr val="FFFFFF"/>
          </a:solidFill>
          <a:ln w="12700">
            <a:solidFill>
              <a:srgbClr val="E3E8F0"/>
            </a:solidFill>
            <a:prstDash val="solid"/>
          </a:ln>
        </p:spPr>
      </p:sp>
      <p:sp>
        <p:nvSpPr>
          <p:cNvPr id="8" name="Text 6"/>
          <p:cNvSpPr/>
          <p:nvPr/>
        </p:nvSpPr>
        <p:spPr>
          <a:xfrm>
            <a:off x="685800" y="2587752"/>
            <a:ext cx="3017520" cy="685800"/>
          </a:xfrm>
          <a:prstGeom prst="rect">
            <a:avLst/>
          </a:prstGeom>
          <a:noFill/>
          <a:ln/>
        </p:spPr>
        <p:txBody>
          <a:bodyPr wrap="square" rtlCol="0" anchor="ctr"/>
          <a:lstStyle/>
          <a:p>
            <a:pPr indent="0" marL="0">
              <a:buNone/>
            </a:pPr>
            <a:r>
              <a:rPr lang="en-US" sz="1350" b="1" dirty="0">
                <a:solidFill>
                  <a:srgbClr val="1B2436"/>
                </a:solidFill>
              </a:rPr>
              <a:t>🗺️ Carte territoriale</a:t>
            </a:r>
            <a:endParaRPr lang="en-US" sz="1350" dirty="0"/>
          </a:p>
        </p:txBody>
      </p:sp>
      <p:sp>
        <p:nvSpPr>
          <p:cNvPr id="9" name="Text 7"/>
          <p:cNvSpPr/>
          <p:nvPr/>
        </p:nvSpPr>
        <p:spPr>
          <a:xfrm>
            <a:off x="3749040" y="2587752"/>
            <a:ext cx="7772400" cy="685800"/>
          </a:xfrm>
          <a:prstGeom prst="rect">
            <a:avLst/>
          </a:prstGeom>
          <a:noFill/>
          <a:ln/>
        </p:spPr>
        <p:txBody>
          <a:bodyPr wrap="square" rtlCol="0" anchor="ctr"/>
          <a:lstStyle/>
          <a:p>
            <a:pPr indent="0" marL="0">
              <a:buNone/>
            </a:pPr>
            <a:r>
              <a:rPr lang="en-US" sz="1200" dirty="0">
                <a:solidFill>
                  <a:srgbClr val="6B7893"/>
                </a:solidFill>
              </a:rPr>
              <a:t>Carte choroplèthe interactive (Folium) du niveau de priorité, avec info-bulles par préfecture</a:t>
            </a:r>
            <a:endParaRPr lang="en-US" sz="1200" dirty="0"/>
          </a:p>
        </p:txBody>
      </p:sp>
      <p:sp>
        <p:nvSpPr>
          <p:cNvPr id="10" name="Shape 8"/>
          <p:cNvSpPr/>
          <p:nvPr/>
        </p:nvSpPr>
        <p:spPr>
          <a:xfrm>
            <a:off x="457200" y="3474720"/>
            <a:ext cx="11247120" cy="841248"/>
          </a:xfrm>
          <a:prstGeom prst="roundRect">
            <a:avLst>
              <a:gd name="adj" fmla="val 6522"/>
            </a:avLst>
          </a:prstGeom>
          <a:solidFill>
            <a:srgbClr val="FFFFFF"/>
          </a:solidFill>
          <a:ln w="12700">
            <a:solidFill>
              <a:srgbClr val="E3E8F0"/>
            </a:solidFill>
            <a:prstDash val="solid"/>
          </a:ln>
        </p:spPr>
      </p:sp>
      <p:sp>
        <p:nvSpPr>
          <p:cNvPr id="11" name="Text 9"/>
          <p:cNvSpPr/>
          <p:nvPr/>
        </p:nvSpPr>
        <p:spPr>
          <a:xfrm>
            <a:off x="685800" y="3547872"/>
            <a:ext cx="3017520" cy="685800"/>
          </a:xfrm>
          <a:prstGeom prst="rect">
            <a:avLst/>
          </a:prstGeom>
          <a:noFill/>
          <a:ln/>
        </p:spPr>
        <p:txBody>
          <a:bodyPr wrap="square" rtlCol="0" anchor="ctr"/>
          <a:lstStyle/>
          <a:p>
            <a:pPr indent="0" marL="0">
              <a:buNone/>
            </a:pPr>
            <a:r>
              <a:rPr lang="en-US" sz="1350" b="1" dirty="0">
                <a:solidFill>
                  <a:srgbClr val="1B2436"/>
                </a:solidFill>
              </a:rPr>
              <a:t>🏆 Priorités</a:t>
            </a:r>
            <a:endParaRPr lang="en-US" sz="1350" dirty="0"/>
          </a:p>
        </p:txBody>
      </p:sp>
      <p:sp>
        <p:nvSpPr>
          <p:cNvPr id="12" name="Text 10"/>
          <p:cNvSpPr/>
          <p:nvPr/>
        </p:nvSpPr>
        <p:spPr>
          <a:xfrm>
            <a:off x="3749040" y="3547872"/>
            <a:ext cx="7772400" cy="685800"/>
          </a:xfrm>
          <a:prstGeom prst="rect">
            <a:avLst/>
          </a:prstGeom>
          <a:noFill/>
          <a:ln/>
        </p:spPr>
        <p:txBody>
          <a:bodyPr wrap="square" rtlCol="0" anchor="ctr"/>
          <a:lstStyle/>
          <a:p>
            <a:pPr indent="0" marL="0">
              <a:buNone/>
            </a:pPr>
            <a:r>
              <a:rPr lang="en-US" sz="1200" dirty="0">
                <a:solidFill>
                  <a:srgbClr val="6B7893"/>
                </a:solidFill>
              </a:rPr>
              <a:t>Classement complet des 37 préfectures par score de priorité, avec tableau détaillé filtrable</a:t>
            </a:r>
            <a:endParaRPr lang="en-US" sz="1200" dirty="0"/>
          </a:p>
        </p:txBody>
      </p:sp>
      <p:sp>
        <p:nvSpPr>
          <p:cNvPr id="13" name="Shape 11"/>
          <p:cNvSpPr/>
          <p:nvPr/>
        </p:nvSpPr>
        <p:spPr>
          <a:xfrm>
            <a:off x="457200" y="4434840"/>
            <a:ext cx="11247120" cy="841248"/>
          </a:xfrm>
          <a:prstGeom prst="roundRect">
            <a:avLst>
              <a:gd name="adj" fmla="val 6522"/>
            </a:avLst>
          </a:prstGeom>
          <a:solidFill>
            <a:srgbClr val="FFFFFF"/>
          </a:solidFill>
          <a:ln w="12700">
            <a:solidFill>
              <a:srgbClr val="E3E8F0"/>
            </a:solidFill>
            <a:prstDash val="solid"/>
          </a:ln>
        </p:spPr>
      </p:sp>
      <p:sp>
        <p:nvSpPr>
          <p:cNvPr id="14" name="Text 12"/>
          <p:cNvSpPr/>
          <p:nvPr/>
        </p:nvSpPr>
        <p:spPr>
          <a:xfrm>
            <a:off x="685800" y="4507992"/>
            <a:ext cx="3017520" cy="685800"/>
          </a:xfrm>
          <a:prstGeom prst="rect">
            <a:avLst/>
          </a:prstGeom>
          <a:noFill/>
          <a:ln/>
        </p:spPr>
        <p:txBody>
          <a:bodyPr wrap="square" rtlCol="0" anchor="ctr"/>
          <a:lstStyle/>
          <a:p>
            <a:pPr indent="0" marL="0">
              <a:buNone/>
            </a:pPr>
            <a:r>
              <a:rPr lang="en-US" sz="1350" b="1" dirty="0">
                <a:solidFill>
                  <a:srgbClr val="1B2436"/>
                </a:solidFill>
              </a:rPr>
              <a:t>🔎 Diagnostic</a:t>
            </a:r>
            <a:endParaRPr lang="en-US" sz="1350" dirty="0"/>
          </a:p>
        </p:txBody>
      </p:sp>
      <p:sp>
        <p:nvSpPr>
          <p:cNvPr id="15" name="Text 13"/>
          <p:cNvSpPr/>
          <p:nvPr/>
        </p:nvSpPr>
        <p:spPr>
          <a:xfrm>
            <a:off x="3749040" y="4507992"/>
            <a:ext cx="7772400" cy="685800"/>
          </a:xfrm>
          <a:prstGeom prst="rect">
            <a:avLst/>
          </a:prstGeom>
          <a:noFill/>
          <a:ln/>
        </p:spPr>
        <p:txBody>
          <a:bodyPr wrap="square" rtlCol="0" anchor="ctr"/>
          <a:lstStyle/>
          <a:p>
            <a:pPr indent="0" marL="0">
              <a:buNone/>
            </a:pPr>
            <a:r>
              <a:rPr lang="en-US" sz="1200" dirty="0">
                <a:solidFill>
                  <a:srgbClr val="6B7893"/>
                </a:solidFill>
              </a:rPr>
              <a:t>Fiche par préfecture : positionnement vs moyenne nationale sur population, Mobile Money, antennes</a:t>
            </a:r>
            <a:endParaRPr lang="en-US" sz="1200" dirty="0"/>
          </a:p>
        </p:txBody>
      </p:sp>
      <p:sp>
        <p:nvSpPr>
          <p:cNvPr id="16" name="Shape 14"/>
          <p:cNvSpPr/>
          <p:nvPr/>
        </p:nvSpPr>
        <p:spPr>
          <a:xfrm>
            <a:off x="457200" y="5394960"/>
            <a:ext cx="11247120" cy="841248"/>
          </a:xfrm>
          <a:prstGeom prst="roundRect">
            <a:avLst>
              <a:gd name="adj" fmla="val 6522"/>
            </a:avLst>
          </a:prstGeom>
          <a:solidFill>
            <a:srgbClr val="FFFFFF"/>
          </a:solidFill>
          <a:ln w="12700">
            <a:solidFill>
              <a:srgbClr val="E3E8F0"/>
            </a:solidFill>
            <a:prstDash val="solid"/>
          </a:ln>
        </p:spPr>
      </p:sp>
      <p:sp>
        <p:nvSpPr>
          <p:cNvPr id="17" name="Text 15"/>
          <p:cNvSpPr/>
          <p:nvPr/>
        </p:nvSpPr>
        <p:spPr>
          <a:xfrm>
            <a:off x="685800" y="5468112"/>
            <a:ext cx="3017520" cy="685800"/>
          </a:xfrm>
          <a:prstGeom prst="rect">
            <a:avLst/>
          </a:prstGeom>
          <a:noFill/>
          <a:ln/>
        </p:spPr>
        <p:txBody>
          <a:bodyPr wrap="square" rtlCol="0" anchor="ctr"/>
          <a:lstStyle/>
          <a:p>
            <a:pPr indent="0" marL="0">
              <a:buNone/>
            </a:pPr>
            <a:r>
              <a:rPr lang="en-US" sz="1350" b="1" dirty="0">
                <a:solidFill>
                  <a:srgbClr val="1B2436"/>
                </a:solidFill>
              </a:rPr>
              <a:t>🎯 Recommandations</a:t>
            </a:r>
            <a:endParaRPr lang="en-US" sz="1350" dirty="0"/>
          </a:p>
        </p:txBody>
      </p:sp>
      <p:sp>
        <p:nvSpPr>
          <p:cNvPr id="18" name="Text 16"/>
          <p:cNvSpPr/>
          <p:nvPr/>
        </p:nvSpPr>
        <p:spPr>
          <a:xfrm>
            <a:off x="3749040" y="5468112"/>
            <a:ext cx="7772400" cy="685800"/>
          </a:xfrm>
          <a:prstGeom prst="rect">
            <a:avLst/>
          </a:prstGeom>
          <a:noFill/>
          <a:ln/>
        </p:spPr>
        <p:txBody>
          <a:bodyPr wrap="square" rtlCol="0" anchor="ctr"/>
          <a:lstStyle/>
          <a:p>
            <a:pPr indent="0" marL="0">
              <a:buNone/>
            </a:pPr>
            <a:r>
              <a:rPr lang="en-US" sz="1200" dirty="0">
                <a:solidFill>
                  <a:srgbClr val="6B7893"/>
                </a:solidFill>
              </a:rPr>
              <a:t>Pistes d'action générées automatiquement pour les 5 préfectures les plus prioritaires</a:t>
            </a:r>
            <a:endParaRPr lang="en-US" sz="1200" dirty="0"/>
          </a:p>
        </p:txBody>
      </p:sp>
      <p:sp>
        <p:nvSpPr>
          <p:cNvPr id="19" name="Text 17"/>
          <p:cNvSpPr/>
          <p:nvPr/>
        </p:nvSpPr>
        <p:spPr>
          <a:xfrm>
            <a:off x="457200" y="6537960"/>
            <a:ext cx="7315200" cy="274320"/>
          </a:xfrm>
          <a:prstGeom prst="rect">
            <a:avLst/>
          </a:prstGeom>
          <a:noFill/>
          <a:ln/>
        </p:spPr>
        <p:txBody>
          <a:bodyPr wrap="square" rtlCol="0" anchor="ctr"/>
          <a:lstStyle/>
          <a:p>
            <a:pPr indent="0" marL="0">
              <a:buNone/>
            </a:pPr>
            <a:r>
              <a:rPr lang="en-US" sz="900" dirty="0">
                <a:solidFill>
                  <a:srgbClr val="6B7893"/>
                </a:solidFill>
              </a:rPr>
              <a:t>Togo Digital Access — Diagnostic télécoms &amp; inclusion numérique</a:t>
            </a:r>
            <a:endParaRPr lang="en-US" sz="900" dirty="0"/>
          </a:p>
        </p:txBody>
      </p:sp>
      <p:sp>
        <p:nvSpPr>
          <p:cNvPr id="20" name="Text 18"/>
          <p:cNvSpPr/>
          <p:nvPr/>
        </p:nvSpPr>
        <p:spPr>
          <a:xfrm>
            <a:off x="11338560" y="6537960"/>
            <a:ext cx="548640" cy="274320"/>
          </a:xfrm>
          <a:prstGeom prst="rect">
            <a:avLst/>
          </a:prstGeom>
          <a:noFill/>
          <a:ln/>
        </p:spPr>
        <p:txBody>
          <a:bodyPr wrap="square" rtlCol="0" anchor="ctr"/>
          <a:lstStyle/>
          <a:p>
            <a:pPr algn="r" indent="0" marL="0">
              <a:buNone/>
            </a:pPr>
            <a:r>
              <a:rPr lang="en-US" sz="900" dirty="0">
                <a:solidFill>
                  <a:srgbClr val="6B7893"/>
                </a:solidFill>
              </a:rPr>
              <a:t>8 / 10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457200" y="320040"/>
            <a:ext cx="7315200" cy="274320"/>
          </a:xfrm>
          <a:prstGeom prst="rect">
            <a:avLst/>
          </a:prstGeom>
          <a:noFill/>
          <a:ln/>
        </p:spPr>
        <p:txBody>
          <a:bodyPr wrap="square" rtlCol="0" anchor="ctr"/>
          <a:lstStyle/>
          <a:p>
            <a:pPr indent="0" marL="0">
              <a:buNone/>
            </a:pPr>
            <a:r>
              <a:rPr lang="en-US" sz="1200" b="1" spc="200" kern="0" dirty="0">
                <a:solidFill>
                  <a:srgbClr val="F7931E"/>
                </a:solidFill>
              </a:rPr>
              <a:t>RECOMMANDATIONS</a:t>
            </a:r>
            <a:endParaRPr lang="en-US" sz="1200" dirty="0"/>
          </a:p>
        </p:txBody>
      </p:sp>
      <p:sp>
        <p:nvSpPr>
          <p:cNvPr id="3" name="Text 1"/>
          <p:cNvSpPr/>
          <p:nvPr/>
        </p:nvSpPr>
        <p:spPr>
          <a:xfrm>
            <a:off x="457200" y="566928"/>
            <a:ext cx="11247120" cy="640080"/>
          </a:xfrm>
          <a:prstGeom prst="rect">
            <a:avLst/>
          </a:prstGeom>
          <a:noFill/>
          <a:ln/>
        </p:spPr>
        <p:txBody>
          <a:bodyPr wrap="square" rtlCol="0" anchor="ctr"/>
          <a:lstStyle/>
          <a:p>
            <a:pPr indent="0" marL="0">
              <a:buNone/>
            </a:pPr>
            <a:r>
              <a:rPr lang="en-US" sz="2800" b="1" dirty="0">
                <a:solidFill>
                  <a:srgbClr val="1B2436"/>
                </a:solidFill>
                <a:latin typeface="Cambria" pitchFamily="34" charset="0"/>
                <a:ea typeface="Cambria" pitchFamily="34" charset="-122"/>
                <a:cs typeface="Cambria" pitchFamily="34" charset="-120"/>
              </a:rPr>
              <a:t>Priorités stratégiques d'extension</a:t>
            </a:r>
            <a:endParaRPr lang="en-US" sz="2800" dirty="0"/>
          </a:p>
        </p:txBody>
      </p:sp>
      <p:sp>
        <p:nvSpPr>
          <p:cNvPr id="4" name="Shape 2"/>
          <p:cNvSpPr/>
          <p:nvPr/>
        </p:nvSpPr>
        <p:spPr>
          <a:xfrm>
            <a:off x="457200" y="1554480"/>
            <a:ext cx="502920" cy="502920"/>
          </a:xfrm>
          <a:prstGeom prst="ellipse">
            <a:avLst/>
          </a:prstGeom>
          <a:solidFill>
            <a:srgbClr val="F7931E"/>
          </a:solidFill>
          <a:ln/>
        </p:spPr>
      </p:sp>
      <p:sp>
        <p:nvSpPr>
          <p:cNvPr id="5" name="Text 3"/>
          <p:cNvSpPr/>
          <p:nvPr/>
        </p:nvSpPr>
        <p:spPr>
          <a:xfrm>
            <a:off x="457200" y="1554480"/>
            <a:ext cx="502920" cy="50292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6" name="Text 4"/>
          <p:cNvSpPr/>
          <p:nvPr/>
        </p:nvSpPr>
        <p:spPr>
          <a:xfrm>
            <a:off x="1188720" y="1527048"/>
            <a:ext cx="10424160" cy="320040"/>
          </a:xfrm>
          <a:prstGeom prst="rect">
            <a:avLst/>
          </a:prstGeom>
          <a:noFill/>
          <a:ln/>
        </p:spPr>
        <p:txBody>
          <a:bodyPr wrap="square" rtlCol="0" anchor="ctr"/>
          <a:lstStyle/>
          <a:p>
            <a:pPr indent="0" marL="0">
              <a:buNone/>
            </a:pPr>
            <a:r>
              <a:rPr lang="en-US" sz="1550" b="1" dirty="0">
                <a:solidFill>
                  <a:srgbClr val="1B2436"/>
                </a:solidFill>
              </a:rPr>
              <a:t>Cibler les préfectures en priorité Forte (21/37)</a:t>
            </a:r>
            <a:endParaRPr lang="en-US" sz="1550" dirty="0"/>
          </a:p>
        </p:txBody>
      </p:sp>
      <p:sp>
        <p:nvSpPr>
          <p:cNvPr id="7" name="Text 5"/>
          <p:cNvSpPr/>
          <p:nvPr/>
        </p:nvSpPr>
        <p:spPr>
          <a:xfrm>
            <a:off x="1188720" y="1847088"/>
            <a:ext cx="10424160" cy="457200"/>
          </a:xfrm>
          <a:prstGeom prst="rect">
            <a:avLst/>
          </a:prstGeom>
          <a:noFill/>
          <a:ln/>
        </p:spPr>
        <p:txBody>
          <a:bodyPr wrap="square" rtlCol="0" anchor="ctr"/>
          <a:lstStyle/>
          <a:p>
            <a:pPr indent="0" marL="0">
              <a:lnSpc>
                <a:spcPct val="115000"/>
              </a:lnSpc>
              <a:buNone/>
            </a:pPr>
            <a:r>
              <a:rPr lang="en-US" sz="1200" dirty="0">
                <a:solidFill>
                  <a:srgbClr val="6B7893"/>
                </a:solidFill>
              </a:rPr>
              <a:t>Blitta, Dankpen, Haho, Tchamba et Zio en premier — fort déficit combiné population/Mobile Money/antennes.</a:t>
            </a:r>
            <a:endParaRPr lang="en-US" sz="1200" dirty="0"/>
          </a:p>
        </p:txBody>
      </p:sp>
      <p:sp>
        <p:nvSpPr>
          <p:cNvPr id="8" name="Shape 6"/>
          <p:cNvSpPr/>
          <p:nvPr/>
        </p:nvSpPr>
        <p:spPr>
          <a:xfrm>
            <a:off x="457200" y="2487168"/>
            <a:ext cx="502920" cy="502920"/>
          </a:xfrm>
          <a:prstGeom prst="ellipse">
            <a:avLst/>
          </a:prstGeom>
          <a:solidFill>
            <a:srgbClr val="F7931E"/>
          </a:solidFill>
          <a:ln/>
        </p:spPr>
      </p:sp>
      <p:sp>
        <p:nvSpPr>
          <p:cNvPr id="9" name="Text 7"/>
          <p:cNvSpPr/>
          <p:nvPr/>
        </p:nvSpPr>
        <p:spPr>
          <a:xfrm>
            <a:off x="457200" y="2487168"/>
            <a:ext cx="502920" cy="50292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0" name="Text 8"/>
          <p:cNvSpPr/>
          <p:nvPr/>
        </p:nvSpPr>
        <p:spPr>
          <a:xfrm>
            <a:off x="1188720" y="2459736"/>
            <a:ext cx="10424160" cy="320040"/>
          </a:xfrm>
          <a:prstGeom prst="rect">
            <a:avLst/>
          </a:prstGeom>
          <a:noFill/>
          <a:ln/>
        </p:spPr>
        <p:txBody>
          <a:bodyPr wrap="square" rtlCol="0" anchor="ctr"/>
          <a:lstStyle/>
          <a:p>
            <a:pPr indent="0" marL="0">
              <a:buNone/>
            </a:pPr>
            <a:r>
              <a:rPr lang="en-US" sz="1550" b="1" dirty="0">
                <a:solidFill>
                  <a:srgbClr val="1B2436"/>
                </a:solidFill>
              </a:rPr>
              <a:t>Accélérer le déploiement Mobile Money</a:t>
            </a:r>
            <a:endParaRPr lang="en-US" sz="1550" dirty="0"/>
          </a:p>
        </p:txBody>
      </p:sp>
      <p:sp>
        <p:nvSpPr>
          <p:cNvPr id="11" name="Text 9"/>
          <p:cNvSpPr/>
          <p:nvPr/>
        </p:nvSpPr>
        <p:spPr>
          <a:xfrm>
            <a:off x="1188720" y="2779776"/>
            <a:ext cx="10424160" cy="457200"/>
          </a:xfrm>
          <a:prstGeom prst="rect">
            <a:avLst/>
          </a:prstGeom>
          <a:noFill/>
          <a:ln/>
        </p:spPr>
        <p:txBody>
          <a:bodyPr wrap="square" rtlCol="0" anchor="ctr"/>
          <a:lstStyle/>
          <a:p>
            <a:pPr indent="0" marL="0">
              <a:lnSpc>
                <a:spcPct val="115000"/>
              </a:lnSpc>
              <a:buNone/>
            </a:pPr>
            <a:r>
              <a:rPr lang="en-US" sz="1200" dirty="0">
                <a:solidFill>
                  <a:srgbClr val="6B7893"/>
                </a:solidFill>
              </a:rPr>
              <a:t>C'est le canal déjà le plus décentralisé : l'étendre coûte moins cher que d'ouvrir de nouvelles agences physiques.</a:t>
            </a:r>
            <a:endParaRPr lang="en-US" sz="1200" dirty="0"/>
          </a:p>
        </p:txBody>
      </p:sp>
      <p:sp>
        <p:nvSpPr>
          <p:cNvPr id="12" name="Shape 10"/>
          <p:cNvSpPr/>
          <p:nvPr/>
        </p:nvSpPr>
        <p:spPr>
          <a:xfrm>
            <a:off x="457200" y="3419856"/>
            <a:ext cx="502920" cy="502920"/>
          </a:xfrm>
          <a:prstGeom prst="ellipse">
            <a:avLst/>
          </a:prstGeom>
          <a:solidFill>
            <a:srgbClr val="F7931E"/>
          </a:solidFill>
          <a:ln/>
        </p:spPr>
      </p:sp>
      <p:sp>
        <p:nvSpPr>
          <p:cNvPr id="13" name="Text 11"/>
          <p:cNvSpPr/>
          <p:nvPr/>
        </p:nvSpPr>
        <p:spPr>
          <a:xfrm>
            <a:off x="457200" y="3419856"/>
            <a:ext cx="502920" cy="50292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4" name="Text 12"/>
          <p:cNvSpPr/>
          <p:nvPr/>
        </p:nvSpPr>
        <p:spPr>
          <a:xfrm>
            <a:off x="1188720" y="3392424"/>
            <a:ext cx="10424160" cy="320040"/>
          </a:xfrm>
          <a:prstGeom prst="rect">
            <a:avLst/>
          </a:prstGeom>
          <a:noFill/>
          <a:ln/>
        </p:spPr>
        <p:txBody>
          <a:bodyPr wrap="square" rtlCol="0" anchor="ctr"/>
          <a:lstStyle/>
          <a:p>
            <a:pPr indent="0" marL="0">
              <a:buNone/>
            </a:pPr>
            <a:r>
              <a:rPr lang="en-US" sz="1550" b="1" dirty="0">
                <a:solidFill>
                  <a:srgbClr val="1B2436"/>
                </a:solidFill>
              </a:rPr>
              <a:t>Diversifier la localisation des datacenters</a:t>
            </a:r>
            <a:endParaRPr lang="en-US" sz="1550" dirty="0"/>
          </a:p>
        </p:txBody>
      </p:sp>
      <p:sp>
        <p:nvSpPr>
          <p:cNvPr id="15" name="Text 13"/>
          <p:cNvSpPr/>
          <p:nvPr/>
        </p:nvSpPr>
        <p:spPr>
          <a:xfrm>
            <a:off x="1188720" y="3712464"/>
            <a:ext cx="10424160" cy="457200"/>
          </a:xfrm>
          <a:prstGeom prst="rect">
            <a:avLst/>
          </a:prstGeom>
          <a:noFill/>
          <a:ln/>
        </p:spPr>
        <p:txBody>
          <a:bodyPr wrap="square" rtlCol="0" anchor="ctr"/>
          <a:lstStyle/>
          <a:p>
            <a:pPr indent="0" marL="0">
              <a:lnSpc>
                <a:spcPct val="115000"/>
              </a:lnSpc>
              <a:buNone/>
            </a:pPr>
            <a:r>
              <a:rPr lang="en-US" sz="1200" dirty="0">
                <a:solidFill>
                  <a:srgbClr val="6B7893"/>
                </a:solidFill>
              </a:rPr>
              <a:t>Réduire le risque de panne nationale en créant une capacité redondante hors de la région Maritime.</a:t>
            </a:r>
            <a:endParaRPr lang="en-US" sz="1200" dirty="0"/>
          </a:p>
        </p:txBody>
      </p:sp>
      <p:sp>
        <p:nvSpPr>
          <p:cNvPr id="16" name="Shape 14"/>
          <p:cNvSpPr/>
          <p:nvPr/>
        </p:nvSpPr>
        <p:spPr>
          <a:xfrm>
            <a:off x="457200" y="4352544"/>
            <a:ext cx="502920" cy="502920"/>
          </a:xfrm>
          <a:prstGeom prst="ellipse">
            <a:avLst/>
          </a:prstGeom>
          <a:solidFill>
            <a:srgbClr val="F7931E"/>
          </a:solidFill>
          <a:ln/>
        </p:spPr>
      </p:sp>
      <p:sp>
        <p:nvSpPr>
          <p:cNvPr id="17" name="Text 15"/>
          <p:cNvSpPr/>
          <p:nvPr/>
        </p:nvSpPr>
        <p:spPr>
          <a:xfrm>
            <a:off x="457200" y="4352544"/>
            <a:ext cx="502920" cy="50292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18" name="Text 16"/>
          <p:cNvSpPr/>
          <p:nvPr/>
        </p:nvSpPr>
        <p:spPr>
          <a:xfrm>
            <a:off x="1188720" y="4325112"/>
            <a:ext cx="10424160" cy="320040"/>
          </a:xfrm>
          <a:prstGeom prst="rect">
            <a:avLst/>
          </a:prstGeom>
          <a:noFill/>
          <a:ln/>
        </p:spPr>
        <p:txBody>
          <a:bodyPr wrap="square" rtlCol="0" anchor="ctr"/>
          <a:lstStyle/>
          <a:p>
            <a:pPr indent="0" marL="0">
              <a:buNone/>
            </a:pPr>
            <a:r>
              <a:rPr lang="en-US" sz="1550" b="1" dirty="0">
                <a:solidFill>
                  <a:srgbClr val="1B2436"/>
                </a:solidFill>
              </a:rPr>
              <a:t>Compléter la donnée de couverture réseau</a:t>
            </a:r>
            <a:endParaRPr lang="en-US" sz="1550" dirty="0"/>
          </a:p>
        </p:txBody>
      </p:sp>
      <p:sp>
        <p:nvSpPr>
          <p:cNvPr id="19" name="Text 17"/>
          <p:cNvSpPr/>
          <p:nvPr/>
        </p:nvSpPr>
        <p:spPr>
          <a:xfrm>
            <a:off x="1188720" y="4645152"/>
            <a:ext cx="10424160" cy="457200"/>
          </a:xfrm>
          <a:prstGeom prst="rect">
            <a:avLst/>
          </a:prstGeom>
          <a:noFill/>
          <a:ln/>
        </p:spPr>
        <p:txBody>
          <a:bodyPr wrap="square" rtlCol="0" anchor="ctr"/>
          <a:lstStyle/>
          <a:p>
            <a:pPr indent="0" marL="0">
              <a:lnSpc>
                <a:spcPct val="115000"/>
              </a:lnSpc>
              <a:buNone/>
            </a:pPr>
            <a:r>
              <a:rPr lang="en-US" sz="1200" dirty="0">
                <a:solidFill>
                  <a:srgbClr val="6B7893"/>
                </a:solidFill>
              </a:rPr>
              <a:t>33 antennes recensées est trop faible pour cartographier fiablement les zones blanches ; nouer un partenariat opérateurs/ARCEP.</a:t>
            </a:r>
            <a:endParaRPr lang="en-US" sz="1200" dirty="0"/>
          </a:p>
        </p:txBody>
      </p:sp>
      <p:sp>
        <p:nvSpPr>
          <p:cNvPr id="20" name="Shape 18"/>
          <p:cNvSpPr/>
          <p:nvPr/>
        </p:nvSpPr>
        <p:spPr>
          <a:xfrm>
            <a:off x="457200" y="5285232"/>
            <a:ext cx="502920" cy="502920"/>
          </a:xfrm>
          <a:prstGeom prst="ellipse">
            <a:avLst/>
          </a:prstGeom>
          <a:solidFill>
            <a:srgbClr val="F7931E"/>
          </a:solidFill>
          <a:ln/>
        </p:spPr>
      </p:sp>
      <p:sp>
        <p:nvSpPr>
          <p:cNvPr id="21" name="Text 19"/>
          <p:cNvSpPr/>
          <p:nvPr/>
        </p:nvSpPr>
        <p:spPr>
          <a:xfrm>
            <a:off x="457200" y="5285232"/>
            <a:ext cx="502920" cy="50292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22" name="Text 20"/>
          <p:cNvSpPr/>
          <p:nvPr/>
        </p:nvSpPr>
        <p:spPr>
          <a:xfrm>
            <a:off x="1188720" y="5257800"/>
            <a:ext cx="10424160" cy="320040"/>
          </a:xfrm>
          <a:prstGeom prst="rect">
            <a:avLst/>
          </a:prstGeom>
          <a:noFill/>
          <a:ln/>
        </p:spPr>
        <p:txBody>
          <a:bodyPr wrap="square" rtlCol="0" anchor="ctr"/>
          <a:lstStyle/>
          <a:p>
            <a:pPr indent="0" marL="0">
              <a:buNone/>
            </a:pPr>
            <a:r>
              <a:rPr lang="en-US" sz="1550" b="1" dirty="0">
                <a:solidFill>
                  <a:srgbClr val="1B2436"/>
                </a:solidFill>
              </a:rPr>
              <a:t>Institutionnaliser le score de priorité</a:t>
            </a:r>
            <a:endParaRPr lang="en-US" sz="1550" dirty="0"/>
          </a:p>
        </p:txBody>
      </p:sp>
      <p:sp>
        <p:nvSpPr>
          <p:cNvPr id="23" name="Text 21"/>
          <p:cNvSpPr/>
          <p:nvPr/>
        </p:nvSpPr>
        <p:spPr>
          <a:xfrm>
            <a:off x="1188720" y="5577840"/>
            <a:ext cx="10424160" cy="457200"/>
          </a:xfrm>
          <a:prstGeom prst="rect">
            <a:avLst/>
          </a:prstGeom>
          <a:noFill/>
          <a:ln/>
        </p:spPr>
        <p:txBody>
          <a:bodyPr wrap="square" rtlCol="0" anchor="ctr"/>
          <a:lstStyle/>
          <a:p>
            <a:pPr indent="0" marL="0">
              <a:lnSpc>
                <a:spcPct val="115000"/>
              </a:lnSpc>
              <a:buNone/>
            </a:pPr>
            <a:r>
              <a:rPr lang="en-US" sz="1200" dirty="0">
                <a:solidFill>
                  <a:srgbClr val="6B7893"/>
                </a:solidFill>
              </a:rPr>
              <a:t>L'utiliser comme outil de présélection avant audits terrain et arbitrages d'investissement, mis à jour périodiquement.</a:t>
            </a:r>
            <a:endParaRPr lang="en-US" sz="1200" dirty="0"/>
          </a:p>
        </p:txBody>
      </p:sp>
      <p:sp>
        <p:nvSpPr>
          <p:cNvPr id="24" name="Text 22"/>
          <p:cNvSpPr/>
          <p:nvPr/>
        </p:nvSpPr>
        <p:spPr>
          <a:xfrm>
            <a:off x="457200" y="6537960"/>
            <a:ext cx="7315200" cy="274320"/>
          </a:xfrm>
          <a:prstGeom prst="rect">
            <a:avLst/>
          </a:prstGeom>
          <a:noFill/>
          <a:ln/>
        </p:spPr>
        <p:txBody>
          <a:bodyPr wrap="square" rtlCol="0" anchor="ctr"/>
          <a:lstStyle/>
          <a:p>
            <a:pPr indent="0" marL="0">
              <a:buNone/>
            </a:pPr>
            <a:r>
              <a:rPr lang="en-US" sz="900" dirty="0">
                <a:solidFill>
                  <a:srgbClr val="6B7893"/>
                </a:solidFill>
              </a:rPr>
              <a:t>Togo Digital Access — Diagnostic télécoms &amp; inclusion numérique</a:t>
            </a:r>
            <a:endParaRPr lang="en-US" sz="900" dirty="0"/>
          </a:p>
        </p:txBody>
      </p:sp>
      <p:sp>
        <p:nvSpPr>
          <p:cNvPr id="25" name="Text 23"/>
          <p:cNvSpPr/>
          <p:nvPr/>
        </p:nvSpPr>
        <p:spPr>
          <a:xfrm>
            <a:off x="11338560" y="6537960"/>
            <a:ext cx="548640" cy="274320"/>
          </a:xfrm>
          <a:prstGeom prst="rect">
            <a:avLst/>
          </a:prstGeom>
          <a:noFill/>
          <a:ln/>
        </p:spPr>
        <p:txBody>
          <a:bodyPr wrap="square" rtlCol="0" anchor="ctr"/>
          <a:lstStyle/>
          <a:p>
            <a:pPr algn="r" indent="0" marL="0">
              <a:buNone/>
            </a:pPr>
            <a:r>
              <a:rPr lang="en-US" sz="900" dirty="0">
                <a:solidFill>
                  <a:srgbClr val="6B7893"/>
                </a:solidFill>
              </a:rPr>
              <a:t>9 / 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213A"/>
        </a:solidFill>
      </p:bgPr>
    </p:bg>
    <p:spTree>
      <p:nvGrpSpPr>
        <p:cNvPr id="1" name=""/>
        <p:cNvGrpSpPr/>
        <p:nvPr/>
      </p:nvGrpSpPr>
      <p:grpSpPr>
        <a:xfrm>
          <a:off x="0" y="0"/>
          <a:ext cx="0" cy="0"/>
          <a:chOff x="0" y="0"/>
          <a:chExt cx="0" cy="0"/>
        </a:xfrm>
      </p:grpSpPr>
      <p:sp>
        <p:nvSpPr>
          <p:cNvPr id="2" name="Shape 0"/>
          <p:cNvSpPr/>
          <p:nvPr/>
        </p:nvSpPr>
        <p:spPr>
          <a:xfrm>
            <a:off x="-1371600" y="5029200"/>
            <a:ext cx="4572000" cy="4572000"/>
          </a:xfrm>
          <a:prstGeom prst="ellipse">
            <a:avLst/>
          </a:prstGeom>
          <a:solidFill>
            <a:srgbClr val="1C7293">
              <a:alpha val="22000"/>
            </a:srgbClr>
          </a:solidFill>
          <a:ln/>
        </p:spPr>
      </p:sp>
      <p:sp>
        <p:nvSpPr>
          <p:cNvPr id="3" name="Text 1"/>
          <p:cNvSpPr/>
          <p:nvPr/>
        </p:nvSpPr>
        <p:spPr>
          <a:xfrm>
            <a:off x="822960" y="640080"/>
            <a:ext cx="7315200" cy="365760"/>
          </a:xfrm>
          <a:prstGeom prst="rect">
            <a:avLst/>
          </a:prstGeom>
          <a:noFill/>
          <a:ln/>
        </p:spPr>
        <p:txBody>
          <a:bodyPr wrap="square" rtlCol="0" anchor="ctr"/>
          <a:lstStyle/>
          <a:p>
            <a:pPr indent="0" marL="0">
              <a:buNone/>
            </a:pPr>
            <a:r>
              <a:rPr lang="en-US" sz="1300" b="1" spc="300" kern="0" dirty="0">
                <a:solidFill>
                  <a:srgbClr val="F7931E"/>
                </a:solidFill>
              </a:rPr>
              <a:t>CONCLUSION</a:t>
            </a:r>
            <a:endParaRPr lang="en-US" sz="1300" dirty="0"/>
          </a:p>
        </p:txBody>
      </p:sp>
      <p:sp>
        <p:nvSpPr>
          <p:cNvPr id="4" name="Text 2"/>
          <p:cNvSpPr/>
          <p:nvPr/>
        </p:nvSpPr>
        <p:spPr>
          <a:xfrm>
            <a:off x="822960" y="1051560"/>
            <a:ext cx="10058400" cy="1188720"/>
          </a:xfrm>
          <a:prstGeom prst="rect">
            <a:avLst/>
          </a:prstGeom>
          <a:noFill/>
          <a:ln/>
        </p:spPr>
        <p:txBody>
          <a:bodyPr wrap="square" rtlCol="0" anchor="ctr"/>
          <a:lstStyle/>
          <a:p>
            <a:pPr indent="0" marL="0">
              <a:lnSpc>
                <a:spcPct val="110000"/>
              </a:lnSpc>
              <a:buNone/>
            </a:pPr>
            <a:r>
              <a:rPr lang="en-US" sz="3000" b="1" dirty="0">
                <a:solidFill>
                  <a:srgbClr val="FFFFFF"/>
                </a:solidFill>
                <a:latin typeface="Cambria" pitchFamily="34" charset="0"/>
                <a:ea typeface="Cambria" pitchFamily="34" charset="-122"/>
                <a:cs typeface="Cambria" pitchFamily="34" charset="-120"/>
              </a:rPr>
              <a:t>Une fracture numérique nette entre Lomé</a:t>
            </a:r>
            <a:endParaRPr lang="en-US" sz="3000" dirty="0"/>
          </a:p>
          <a:p>
            <a:pPr indent="0" marL="0">
              <a:lnSpc>
                <a:spcPct val="110000"/>
              </a:lnSpc>
              <a:buNone/>
            </a:pPr>
            <a:r>
              <a:rPr lang="en-US" sz="3000" b="1" dirty="0">
                <a:solidFill>
                  <a:srgbClr val="FFFFFF"/>
                </a:solidFill>
                <a:latin typeface="Cambria" pitchFamily="34" charset="0"/>
                <a:ea typeface="Cambria" pitchFamily="34" charset="-122"/>
                <a:cs typeface="Cambria" pitchFamily="34" charset="-120"/>
              </a:rPr>
              <a:t>et le reste du territoire</a:t>
            </a:r>
            <a:endParaRPr lang="en-US" sz="3000" dirty="0"/>
          </a:p>
        </p:txBody>
      </p:sp>
      <p:sp>
        <p:nvSpPr>
          <p:cNvPr id="5" name="Shape 3"/>
          <p:cNvSpPr/>
          <p:nvPr/>
        </p:nvSpPr>
        <p:spPr>
          <a:xfrm>
            <a:off x="822960" y="2651760"/>
            <a:ext cx="45720" cy="457200"/>
          </a:xfrm>
          <a:prstGeom prst="rect">
            <a:avLst/>
          </a:prstGeom>
          <a:solidFill>
            <a:srgbClr val="F7931E"/>
          </a:solidFill>
          <a:ln/>
        </p:spPr>
      </p:sp>
      <p:sp>
        <p:nvSpPr>
          <p:cNvPr id="6" name="Text 4"/>
          <p:cNvSpPr/>
          <p:nvPr/>
        </p:nvSpPr>
        <p:spPr>
          <a:xfrm>
            <a:off x="1051560" y="2560320"/>
            <a:ext cx="9692640" cy="685800"/>
          </a:xfrm>
          <a:prstGeom prst="rect">
            <a:avLst/>
          </a:prstGeom>
          <a:noFill/>
          <a:ln/>
        </p:spPr>
        <p:txBody>
          <a:bodyPr wrap="square" rtlCol="0" anchor="ctr"/>
          <a:lstStyle/>
          <a:p>
            <a:pPr indent="0" marL="0">
              <a:lnSpc>
                <a:spcPct val="120000"/>
              </a:lnSpc>
              <a:buNone/>
            </a:pPr>
            <a:r>
              <a:rPr lang="en-US" sz="1400" dirty="0">
                <a:solidFill>
                  <a:srgbClr val="E8ECF4"/>
                </a:solidFill>
              </a:rPr>
              <a:t>L'infrastructure télécom et numérique togolaise reste très centralisée sur la région Maritime (Lomé) : agences, datacenters et, dans une moindre mesure, Mobile Money.</a:t>
            </a:r>
            <a:endParaRPr lang="en-US" sz="1400" dirty="0"/>
          </a:p>
        </p:txBody>
      </p:sp>
      <p:sp>
        <p:nvSpPr>
          <p:cNvPr id="7" name="Shape 5"/>
          <p:cNvSpPr/>
          <p:nvPr/>
        </p:nvSpPr>
        <p:spPr>
          <a:xfrm>
            <a:off x="822960" y="3520440"/>
            <a:ext cx="45720" cy="457200"/>
          </a:xfrm>
          <a:prstGeom prst="rect">
            <a:avLst/>
          </a:prstGeom>
          <a:solidFill>
            <a:srgbClr val="F7931E"/>
          </a:solidFill>
          <a:ln/>
        </p:spPr>
      </p:sp>
      <p:sp>
        <p:nvSpPr>
          <p:cNvPr id="8" name="Text 6"/>
          <p:cNvSpPr/>
          <p:nvPr/>
        </p:nvSpPr>
        <p:spPr>
          <a:xfrm>
            <a:off x="1051560" y="3429000"/>
            <a:ext cx="9692640" cy="685800"/>
          </a:xfrm>
          <a:prstGeom prst="rect">
            <a:avLst/>
          </a:prstGeom>
          <a:noFill/>
          <a:ln/>
        </p:spPr>
        <p:txBody>
          <a:bodyPr wrap="square" rtlCol="0" anchor="ctr"/>
          <a:lstStyle/>
          <a:p>
            <a:pPr indent="0" marL="0">
              <a:lnSpc>
                <a:spcPct val="120000"/>
              </a:lnSpc>
              <a:buNone/>
            </a:pPr>
            <a:r>
              <a:rPr lang="en-US" sz="1400" dirty="0">
                <a:solidFill>
                  <a:srgbClr val="E8ECF4"/>
                </a:solidFill>
              </a:rPr>
              <a:t>Le Mobile Money est le service le plus décentralisé et le levier d'inclusion numérique le plus rapide à activer.</a:t>
            </a:r>
            <a:endParaRPr lang="en-US" sz="1400" dirty="0"/>
          </a:p>
        </p:txBody>
      </p:sp>
      <p:sp>
        <p:nvSpPr>
          <p:cNvPr id="9" name="Shape 7"/>
          <p:cNvSpPr/>
          <p:nvPr/>
        </p:nvSpPr>
        <p:spPr>
          <a:xfrm>
            <a:off x="822960" y="4389120"/>
            <a:ext cx="45720" cy="457200"/>
          </a:xfrm>
          <a:prstGeom prst="rect">
            <a:avLst/>
          </a:prstGeom>
          <a:solidFill>
            <a:srgbClr val="F7931E"/>
          </a:solidFill>
          <a:ln/>
        </p:spPr>
      </p:sp>
      <p:sp>
        <p:nvSpPr>
          <p:cNvPr id="10" name="Text 8"/>
          <p:cNvSpPr/>
          <p:nvPr/>
        </p:nvSpPr>
        <p:spPr>
          <a:xfrm>
            <a:off x="1051560" y="4297680"/>
            <a:ext cx="9692640" cy="685800"/>
          </a:xfrm>
          <a:prstGeom prst="rect">
            <a:avLst/>
          </a:prstGeom>
          <a:noFill/>
          <a:ln/>
        </p:spPr>
        <p:txBody>
          <a:bodyPr wrap="square" rtlCol="0" anchor="ctr"/>
          <a:lstStyle/>
          <a:p>
            <a:pPr indent="0" marL="0">
              <a:lnSpc>
                <a:spcPct val="120000"/>
              </a:lnSpc>
              <a:buNone/>
            </a:pPr>
            <a:r>
              <a:rPr lang="en-US" sz="1400" dirty="0">
                <a:solidFill>
                  <a:srgbClr val="E8ECF4"/>
                </a:solidFill>
              </a:rPr>
              <a:t>21 préfectures sur 37 (score de priorité 'Forte') doivent être la cible prioritaire des futurs investissements, en tête desquelles Blitta, Dankpen et Haho.</a:t>
            </a:r>
            <a:endParaRPr lang="en-US" sz="1400" dirty="0"/>
          </a:p>
        </p:txBody>
      </p:sp>
      <p:sp>
        <p:nvSpPr>
          <p:cNvPr id="11" name="Text 9"/>
          <p:cNvSpPr/>
          <p:nvPr/>
        </p:nvSpPr>
        <p:spPr>
          <a:xfrm>
            <a:off x="822960" y="5989320"/>
            <a:ext cx="10241280" cy="548640"/>
          </a:xfrm>
          <a:prstGeom prst="rect">
            <a:avLst/>
          </a:prstGeom>
          <a:noFill/>
          <a:ln/>
        </p:spPr>
        <p:txBody>
          <a:bodyPr wrap="square" rtlCol="0" anchor="ctr"/>
          <a:lstStyle/>
          <a:p>
            <a:pPr indent="0" marL="0">
              <a:buNone/>
            </a:pPr>
            <a:r>
              <a:rPr lang="en-US" sz="1050" i="1" dirty="0">
                <a:solidFill>
                  <a:srgbClr val="93A0BD"/>
                </a:solidFill>
              </a:rPr>
              <a:t>Limites méthodologiques : agences CANAL+ indisponibles ; échantillon d'antennes cellulaires (33 pts) trop réduit pour une carte de couverture radio fiable ; population estimée par imagerie satellite (WorldPop 2020).</a:t>
            </a:r>
            <a:endParaRPr lang="en-US" sz="1050" dirty="0"/>
          </a:p>
        </p:txBody>
      </p:sp>
      <p:sp>
        <p:nvSpPr>
          <p:cNvPr id="12" name="Text 10"/>
          <p:cNvSpPr/>
          <p:nvPr/>
        </p:nvSpPr>
        <p:spPr>
          <a:xfrm>
            <a:off x="457200" y="6537960"/>
            <a:ext cx="7315200" cy="274320"/>
          </a:xfrm>
          <a:prstGeom prst="rect">
            <a:avLst/>
          </a:prstGeom>
          <a:noFill/>
          <a:ln/>
        </p:spPr>
        <p:txBody>
          <a:bodyPr wrap="square" rtlCol="0" anchor="ctr"/>
          <a:lstStyle/>
          <a:p>
            <a:pPr indent="0" marL="0">
              <a:buNone/>
            </a:pPr>
            <a:r>
              <a:rPr lang="en-US" sz="900" dirty="0">
                <a:solidFill>
                  <a:srgbClr val="6B7893"/>
                </a:solidFill>
              </a:rPr>
              <a:t>Togo Digital Access — Diagnostic télécoms &amp; inclusion numérique</a:t>
            </a:r>
            <a:endParaRPr lang="en-US" sz="900" dirty="0"/>
          </a:p>
        </p:txBody>
      </p:sp>
      <p:sp>
        <p:nvSpPr>
          <p:cNvPr id="13" name="Text 11"/>
          <p:cNvSpPr/>
          <p:nvPr/>
        </p:nvSpPr>
        <p:spPr>
          <a:xfrm>
            <a:off x="11338560" y="6537960"/>
            <a:ext cx="548640" cy="274320"/>
          </a:xfrm>
          <a:prstGeom prst="rect">
            <a:avLst/>
          </a:prstGeom>
          <a:noFill/>
          <a:ln/>
        </p:spPr>
        <p:txBody>
          <a:bodyPr wrap="square" rtlCol="0" anchor="ctr"/>
          <a:lstStyle/>
          <a:p>
            <a:pPr algn="r" indent="0" marL="0">
              <a:buNone/>
            </a:pPr>
            <a:r>
              <a:rPr lang="en-US" sz="900" dirty="0">
                <a:solidFill>
                  <a:srgbClr val="6B7893"/>
                </a:solidFill>
              </a:rPr>
              <a:t>10 / 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2026-09-09T02:44:20Z</dcterms:created>
  <dcterms:modified xsi:type="dcterms:W3CDTF">2026-09-09T02:44:20Z</dcterms:modified>
</cp:coreProperties>
</file>